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de la présentation : montrer la différence entre utiliser Claude en chat, Claude Code seul, et Claude Code avec le template de gestion de projet ; puis comment installer le launcher et démarrer un projet. Durée visée : 20 à 25 minutes, questions comprises.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le plan. Préciser qu’on termine par une journée type et les prochaines étapes.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 saut entre le niveau 2 et le niveau 3 : ce n’est pas un meilleur modèle, c’est un cadre. Claude Code seul fait ce qu’on lui demande ; avec le template, il suit un processus de projet complet.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Quatre problèmes constatés en pratique avec Claude Code seul, et la réponse du template à chacun. C’est la slide de motivation avant d’entrer dans le fonctionnement.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Partir des besoins d’un projet (colonne de droite) et montrer que chacun correspond à un objet GitHub standard. Rien d’exotique : issues, milestones, labels, tags, releases. Le template les relie et les tient à jour. SemVer : majeur = rupture, mineur = fonctionnalité, patch = correction, décidé à la création du milestone.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couleurs sont celles des labels créés sur GitHub par /init-project. Point clé pour des collègues : on peut suivre un projet depuis GitHub sans ouvrir le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la frise de gauche à droite : c’est la vie d’un milestone vue depuis GitHub. Point à souligner : un collègue qui ne touche pas au terminal peut suivre le projet entièrement depuis GitHub, en temps réel.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cases orange sont les seuls moments où le pipeline s’arrête pour vous. Tout le reste s’enchaîne. En cas de rejet à un gate, l’issue repasse EN COURS et le cycle reprend au développement.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Répondre ici à la crainte « on perd le contrôle ». Les gates sont les points de décision humains ; les agents ne mettent jamais en production sans le GATE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teamleader tourne dans la session principale de Claude Code. Il ne code jamais lui-même : il délègue, contrôle les livrables et tient l’état GitHub. Les agents ne parlent qu’à lui. Quand un agent a une question, elle remonte au teamleader qui vous la pose sous forme de choix.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pas détailler chaque agent. Retenir trois choses : un rôle par agent, le planner et le code-reviewer peuvent déléguer à des sous-agents, et le modèle est choisi par agent pour équilibrer coût et qualité.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C’est la slide à défendre si l’on doute de la qualité du code produit par des agents : les tests ne viennent pas du code, ils viennent des contrats, et le code est écrit pour les satisfaire. Les tests existants sont intouchables, la non-régression est jouée avant chaque mise en production, et la CI est la même partout.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C’est la réponse au point soulevé sur Claude Code seul : l’équipe et le protocole sont définis une fois dans le template, pas réécrits à chaque projet. Les projets non-dev sont aussi couverts par des agents génériques.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points d’entrée, une seule commande. Le template lui-même est fetché depuis GitHub et gitignoré ; seuls les fichiers propres au projet sont trackés. L’init se termine par un commit d’état puis un audit de cohérence automatique.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Répondre à la question « une description globale suffit-elle ? » : oui pour lancer, mais le workshop ira chercher les cas d’usage v1, le hors périmètre, les contraintes réglementaires et la stack. Préparer ces éléments à l’avance fait gagner du temps. Les issues de base ne sont créées que sur un dépôt vide avec remote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Changement d’échelle : on ne parle plus d’un projet mais d’un poste de travail qui en pilote plusieurs. Le launcher est un script tmux indépendant du template, utilisable avec n’importe quel projet Claude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possible, faire la démo en direct : télécharger, configurer, ouvrir un projet. L’alternative sans launcher : copier init-project.md dans .claude/commands/ du projet et lancer /init-project.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variable CLAUDE_EXPERIMENTAL_TEAMS est indispensable : sans elle, pas de teamleader ni d’agents en équipe. Le launcher la positionne pour vous. La commande --update force une mise à jour manuelle, la config est conservée.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Autres commandes utiles à citer si on demande : /bugfix, /hotfix, /refactor, /backlog, /review, /qa, /secu, /team-status. Toutes sont décrites dans le README du template.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Ouvrir la discussion. Points à anticiper : consommation du compte (le panneau l’affiche), temps d’un cycle complet, ce qui se passe quand la CI échoue, et comment adapter les agents à un projet existant.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097657"/>
            <a:ext cx="10566400" cy="796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342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342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198985"/>
            <a:ext cx="10566400" cy="384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097657"/>
            <a:ext cx="10566400" cy="796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342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342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198985"/>
            <a:ext cx="10566400" cy="384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0702A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0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PRÉSENTATION ÉQUIPE · OCTOBRE 2026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2237780"/>
            <a:ext cx="9810750" cy="151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Code et le template projet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12800" y="3934420"/>
            <a:ext cx="91567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 chat à une équipe d’agents qui livre vos projets en test-driven : contrats, tests, code, revues et releases dans un seul flux.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5831880"/>
            <a:ext cx="1950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6CFD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claude-launcher.sh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63540" y="5831880"/>
            <a:ext cx="14264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6CFD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/init-project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57080" y="5831880"/>
            <a:ext cx="25237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6CFD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/feature · /deploy prod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0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 PROGRAMME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Quatre questions, dans l’ordre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1885255"/>
            <a:ext cx="5175250" cy="1362472"/>
          </a:xfrm>
          <a:prstGeom prst="roundRect">
            <a:avLst>
              <a:gd name="adj" fmla="val 7224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142430"/>
            <a:ext cx="310991" cy="873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400" b="1" dirty="0">
                <a:solidFill>
                  <a:srgbClr val="E0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35509" y="2142430"/>
            <a:ext cx="432449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Chat, Claude Code, template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35509" y="2492871"/>
            <a:ext cx="4324497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Quelle différence pour un projet de développement 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00775" y="1885255"/>
            <a:ext cx="5175250" cy="1362472"/>
          </a:xfrm>
          <a:prstGeom prst="roundRect">
            <a:avLst>
              <a:gd name="adj" fmla="val 7224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7950" y="2142430"/>
            <a:ext cx="266502" cy="873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400" b="1" dirty="0">
                <a:solidFill>
                  <a:srgbClr val="E0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876852" y="2142430"/>
            <a:ext cx="4369258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Gérer un projet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76852" y="2492871"/>
            <a:ext cx="436925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Suivi GitHub, lots et milestones, cycle de développement, gates.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975" y="3457277"/>
            <a:ext cx="5175250" cy="1362472"/>
          </a:xfrm>
          <a:prstGeom prst="roundRect">
            <a:avLst>
              <a:gd name="adj" fmla="val 7224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3150" y="3714452"/>
            <a:ext cx="271165" cy="873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400" b="1" dirty="0">
                <a:solidFill>
                  <a:srgbClr val="E0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496715" y="3714452"/>
            <a:ext cx="436445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 templates et le démarrage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96715" y="4064893"/>
            <a:ext cx="4364455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 qui est livré, puis initialiser depuis un texte ou le formulaire.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00775" y="3457277"/>
            <a:ext cx="5175250" cy="1362472"/>
          </a:xfrm>
          <a:prstGeom prst="roundRect">
            <a:avLst>
              <a:gd name="adj" fmla="val 7224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7950" y="3714452"/>
            <a:ext cx="310991" cy="873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400" b="1" dirty="0">
                <a:solidFill>
                  <a:srgbClr val="E0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920309" y="3714452"/>
            <a:ext cx="402353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Plusieurs projets en parallèle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20309" y="4064893"/>
            <a:ext cx="445254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besoin, puis le launcher et ses fonctionnalités.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24519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1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Code · template projet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2369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1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spc="150" kern="0" dirty="0">
                <a:solidFill>
                  <a:srgbClr val="E0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TROIS NIVEAUX D’USAGE</a:t>
            </a:r>
            <a:endParaRPr lang="en-US" sz="1196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96367"/>
            <a:ext cx="10883392" cy="48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70"/>
              </a:lnSpc>
              <a:buNone/>
            </a:pPr>
            <a:r>
              <a:rPr lang="en-US" sz="3336" b="1" i="0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Même modèle, trois façons de travailler</a:t>
            </a:r>
            <a:endParaRPr lang="en-US" sz="3336" dirty="0"/>
          </a:p>
        </p:txBody>
      </p:sp>
      <p:sp>
        <p:nvSpPr>
          <p:cNvPr id="4" name="Shape 2"/>
          <p:cNvSpPr/>
          <p:nvPr/>
        </p:nvSpPr>
        <p:spPr>
          <a:xfrm>
            <a:off x="815975" y="1866106"/>
            <a:ext cx="3384550" cy="3972719"/>
          </a:xfrm>
          <a:prstGeom prst="roundRect">
            <a:avLst>
              <a:gd name="adj" fmla="val 2908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123281"/>
            <a:ext cx="2956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A81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NIVEAU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3150" y="2463602"/>
            <a:ext cx="29563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(chat)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3150" y="2895402"/>
            <a:ext cx="2956306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Une conversation dans le navigateur. Vous copiez le code dans les deux sens.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58494" y="3715643"/>
            <a:ext cx="2863342" cy="151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Aucun accès à votre dépôt ni à vos outils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Vous exécutez, testez et commitez vous-même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Bon pour réfléchir, expliquer, rédiger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10075" y="1866106"/>
            <a:ext cx="3384550" cy="3972719"/>
          </a:xfrm>
          <a:prstGeom prst="roundRect">
            <a:avLst>
              <a:gd name="adj" fmla="val 2908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7250" y="2123281"/>
            <a:ext cx="2956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A81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NIVEAU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7250" y="2463602"/>
            <a:ext cx="29563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Code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7250" y="2895402"/>
            <a:ext cx="295630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agent dans le terminal, à l’intérieur de votre dépôt.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2594" y="3484563"/>
            <a:ext cx="2863342" cy="151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Lit, écrit, exécute : build, tests, git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Multi-agents possible, mais l’équipe et les règles de protocole sont à redéfinir à chaque projet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Bon pour une tâche de bout en bout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01000" y="1862931"/>
            <a:ext cx="3378200" cy="3979069"/>
          </a:xfrm>
          <a:prstGeom prst="roundRect">
            <a:avLst>
              <a:gd name="adj" fmla="val 3008"/>
            </a:avLst>
          </a:prstGeom>
          <a:solidFill>
            <a:srgbClr val="16213A"/>
          </a:solidFill>
          <a:ln/>
        </p:spPr>
      </p:sp>
      <p:sp>
        <p:nvSpPr>
          <p:cNvPr id="15" name="Text 13"/>
          <p:cNvSpPr/>
          <p:nvPr/>
        </p:nvSpPr>
        <p:spPr>
          <a:xfrm>
            <a:off x="8255000" y="2116931"/>
            <a:ext cx="2956306" cy="231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spc="100" kern="0" dirty="0">
                <a:solidFill>
                  <a:srgbClr val="E0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NIVEAU 3</a:t>
            </a:r>
            <a:endParaRPr lang="en-US" sz="1196" dirty="0"/>
          </a:p>
        </p:txBody>
      </p:sp>
      <p:sp>
        <p:nvSpPr>
          <p:cNvPr id="16" name="Text 14"/>
          <p:cNvSpPr/>
          <p:nvPr/>
        </p:nvSpPr>
        <p:spPr>
          <a:xfrm>
            <a:off x="8255000" y="2450405"/>
            <a:ext cx="2956306" cy="320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8"/>
              </a:lnSpc>
              <a:buNone/>
            </a:pPr>
            <a:r>
              <a:rPr lang="en-US" sz="1931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Code + template</a:t>
            </a:r>
            <a:endParaRPr lang="en-US" sz="1931" dirty="0"/>
          </a:p>
        </p:txBody>
      </p:sp>
      <p:sp>
        <p:nvSpPr>
          <p:cNvPr id="17" name="Text 15"/>
          <p:cNvSpPr/>
          <p:nvPr/>
        </p:nvSpPr>
        <p:spPr>
          <a:xfrm>
            <a:off x="8255000" y="2872383"/>
            <a:ext cx="2956306" cy="696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4"/>
              </a:lnSpc>
              <a:buNone/>
            </a:pPr>
            <a:r>
              <a:rPr lang="en-US" sz="1268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Une équipe d’agents spécialisés, pilotée par un teamleader, avec un workflow imposé.</a:t>
            </a:r>
            <a:endParaRPr lang="en-US" sz="1268" dirty="0"/>
          </a:p>
        </p:txBody>
      </p:sp>
      <p:sp>
        <p:nvSpPr>
          <p:cNvPr id="18" name="Text 16"/>
          <p:cNvSpPr/>
          <p:nvPr/>
        </p:nvSpPr>
        <p:spPr>
          <a:xfrm>
            <a:off x="8347004" y="3670399"/>
            <a:ext cx="2856682" cy="1943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1996" indent="-161996">
              <a:lnSpc>
                <a:spcPts val="1889"/>
              </a:lnSpc>
              <a:buSzPct val="100000"/>
              <a:buChar char="•"/>
            </a:pPr>
            <a:r>
              <a:rPr lang="en-US" sz="1259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Test-driven : contrats, tests, puis code, revue, QA, déploiement</a:t>
            </a:r>
            <a:endParaRPr lang="en-US" sz="1259" dirty="0"/>
          </a:p>
          <a:p>
            <a:pPr algn="l" marL="161996" indent="-161996">
              <a:lnSpc>
                <a:spcPts val="1889"/>
              </a:lnSpc>
              <a:buSzPct val="100000"/>
              <a:buChar char="•"/>
            </a:pPr>
            <a:r>
              <a:rPr lang="en-US" sz="1259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 intégré : issues, milestones, releases</a:t>
            </a:r>
            <a:endParaRPr lang="en-US" sz="1259" dirty="0"/>
          </a:p>
          <a:p>
            <a:pPr algn="l" marL="161996" indent="-161996">
              <a:lnSpc>
                <a:spcPts val="1889"/>
              </a:lnSpc>
              <a:buSzPct val="100000"/>
              <a:buChar char="•"/>
            </a:pPr>
            <a:r>
              <a:rPr lang="en-US" sz="1259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Mémoire de projet d’une session à l’autre</a:t>
            </a:r>
            <a:endParaRPr lang="en-US" sz="1259" dirty="0"/>
          </a:p>
          <a:p>
            <a:pPr algn="l" marL="161996" indent="-161996">
              <a:lnSpc>
                <a:spcPts val="1889"/>
              </a:lnSpc>
              <a:buSzPct val="100000"/>
              <a:buChar char="•"/>
            </a:pPr>
            <a:r>
              <a:rPr lang="en-US" sz="1259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Bon pour livrer un projet, pas une tâche</a:t>
            </a:r>
            <a:endParaRPr lang="en-US" sz="1259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24519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1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Code · template projet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2369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1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3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b="1" spc="150" kern="0" dirty="0">
                <a:solidFill>
                  <a:srgbClr val="E0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POURQUOI UN TEMPLATE</a:t>
            </a:r>
            <a:endParaRPr lang="en-US" sz="1121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86644"/>
            <a:ext cx="10883392" cy="905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83"/>
              </a:lnSpc>
              <a:buNone/>
            </a:pPr>
            <a:r>
              <a:rPr lang="en-US" sz="3166" b="1" i="0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Code seul est puissant, mais sans cadre chaque projet repart de zéro</a:t>
            </a:r>
            <a:endParaRPr lang="en-US" sz="3166" dirty="0"/>
          </a:p>
        </p:txBody>
      </p:sp>
      <p:sp>
        <p:nvSpPr>
          <p:cNvPr id="4" name="Shape 2"/>
          <p:cNvSpPr/>
          <p:nvPr/>
        </p:nvSpPr>
        <p:spPr>
          <a:xfrm>
            <a:off x="812800" y="2271713"/>
            <a:ext cx="5194300" cy="1696244"/>
          </a:xfrm>
          <a:prstGeom prst="roundRect">
            <a:avLst>
              <a:gd name="adj" fmla="val 5990"/>
            </a:avLst>
          </a:prstGeom>
          <a:solidFill>
            <a:srgbClr val="1E2B4A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500313"/>
            <a:ext cx="4826889" cy="241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2"/>
              </a:lnSpc>
              <a:buNone/>
            </a:pPr>
            <a:r>
              <a:rPr lang="en-US" sz="1435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Workflows incohérents</a:t>
            </a:r>
            <a:endParaRPr lang="en-US" sz="1435" dirty="0"/>
          </a:p>
        </p:txBody>
      </p:sp>
      <p:sp>
        <p:nvSpPr>
          <p:cNvPr id="6" name="Text 4"/>
          <p:cNvSpPr/>
          <p:nvPr/>
        </p:nvSpPr>
        <p:spPr>
          <a:xfrm>
            <a:off x="1066800" y="2818011"/>
            <a:ext cx="4826889" cy="43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32"/>
              </a:lnSpc>
              <a:buNone/>
            </a:pPr>
            <a:r>
              <a:rPr lang="en-US" sz="1166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Chaque feature suit un chemin différent, pas de revue systématique, des oublis.</a:t>
            </a:r>
            <a:endParaRPr lang="en-US" sz="1166" dirty="0"/>
          </a:p>
        </p:txBody>
      </p:sp>
      <p:sp>
        <p:nvSpPr>
          <p:cNvPr id="7" name="Text 5"/>
          <p:cNvSpPr/>
          <p:nvPr/>
        </p:nvSpPr>
        <p:spPr>
          <a:xfrm>
            <a:off x="1066800" y="3329484"/>
            <a:ext cx="4826889" cy="43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32"/>
              </a:lnSpc>
              <a:buNone/>
            </a:pPr>
            <a:r>
              <a:rPr lang="en-US" sz="1166" b="1" dirty="0">
                <a:solidFill>
                  <a:srgbClr val="F2B9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Template :</a:t>
            </a:r>
            <a:r>
              <a:rPr lang="en-US" sz="1166" dirty="0">
                <a:solidFill>
                  <a:srgbClr val="F2B9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un pipeline unique, plan, dev, tests, revue, QA, déploiement.</a:t>
            </a:r>
            <a:endParaRPr lang="en-US" sz="1166" dirty="0"/>
          </a:p>
        </p:txBody>
      </p:sp>
      <p:sp>
        <p:nvSpPr>
          <p:cNvPr id="8" name="Shape 6"/>
          <p:cNvSpPr/>
          <p:nvPr/>
        </p:nvSpPr>
        <p:spPr>
          <a:xfrm>
            <a:off x="6184900" y="2271713"/>
            <a:ext cx="5194300" cy="1696244"/>
          </a:xfrm>
          <a:prstGeom prst="roundRect">
            <a:avLst>
              <a:gd name="adj" fmla="val 5990"/>
            </a:avLst>
          </a:prstGeom>
          <a:solidFill>
            <a:srgbClr val="1E2B4A"/>
          </a:solidFill>
          <a:ln/>
        </p:spPr>
      </p:sp>
      <p:sp>
        <p:nvSpPr>
          <p:cNvPr id="9" name="Text 7"/>
          <p:cNvSpPr/>
          <p:nvPr/>
        </p:nvSpPr>
        <p:spPr>
          <a:xfrm>
            <a:off x="6438900" y="2500313"/>
            <a:ext cx="4826889" cy="241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2"/>
              </a:lnSpc>
              <a:buNone/>
            </a:pPr>
            <a:r>
              <a:rPr lang="en-US" sz="1435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Contexte perdu entre sessions</a:t>
            </a:r>
            <a:endParaRPr lang="en-US" sz="1435" dirty="0"/>
          </a:p>
        </p:txBody>
      </p:sp>
      <p:sp>
        <p:nvSpPr>
          <p:cNvPr id="10" name="Text 8"/>
          <p:cNvSpPr/>
          <p:nvPr/>
        </p:nvSpPr>
        <p:spPr>
          <a:xfrm>
            <a:off x="6438900" y="2818011"/>
            <a:ext cx="4826889" cy="43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32"/>
              </a:lnSpc>
              <a:buNone/>
            </a:pPr>
            <a:r>
              <a:rPr lang="en-US" sz="1166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Version, décisions, règles du projet : tout se répète à chaque ouverture.</a:t>
            </a:r>
            <a:endParaRPr lang="en-US" sz="1166" dirty="0"/>
          </a:p>
        </p:txBody>
      </p:sp>
      <p:sp>
        <p:nvSpPr>
          <p:cNvPr id="11" name="Text 9"/>
          <p:cNvSpPr/>
          <p:nvPr/>
        </p:nvSpPr>
        <p:spPr>
          <a:xfrm>
            <a:off x="6438900" y="3329484"/>
            <a:ext cx="4826889" cy="43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32"/>
              </a:lnSpc>
              <a:buNone/>
            </a:pPr>
            <a:r>
              <a:rPr lang="en-US" sz="1166" b="1" dirty="0">
                <a:solidFill>
                  <a:srgbClr val="F2B9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Template :</a:t>
            </a:r>
            <a:r>
              <a:rPr lang="en-US" sz="1166" dirty="0">
                <a:solidFill>
                  <a:srgbClr val="F2B9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mémoire projet et CLAUDE.md maintenus, lus au démarrage de session.</a:t>
            </a:r>
            <a:endParaRPr lang="en-US" sz="1166" dirty="0"/>
          </a:p>
        </p:txBody>
      </p:sp>
      <p:sp>
        <p:nvSpPr>
          <p:cNvPr id="12" name="Shape 10"/>
          <p:cNvSpPr/>
          <p:nvPr/>
        </p:nvSpPr>
        <p:spPr>
          <a:xfrm>
            <a:off x="812800" y="4145756"/>
            <a:ext cx="5194300" cy="1696244"/>
          </a:xfrm>
          <a:prstGeom prst="roundRect">
            <a:avLst>
              <a:gd name="adj" fmla="val 5990"/>
            </a:avLst>
          </a:prstGeom>
          <a:solidFill>
            <a:srgbClr val="1E2B4A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" y="4374356"/>
            <a:ext cx="4826889" cy="241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2"/>
              </a:lnSpc>
              <a:buNone/>
            </a:pPr>
            <a:r>
              <a:rPr lang="en-US" sz="1435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 en silo</a:t>
            </a:r>
            <a:endParaRPr lang="en-US" sz="1435" dirty="0"/>
          </a:p>
        </p:txBody>
      </p:sp>
      <p:sp>
        <p:nvSpPr>
          <p:cNvPr id="14" name="Text 12"/>
          <p:cNvSpPr/>
          <p:nvPr/>
        </p:nvSpPr>
        <p:spPr>
          <a:xfrm>
            <a:off x="1066800" y="4692055"/>
            <a:ext cx="4826889" cy="43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32"/>
              </a:lnSpc>
              <a:buNone/>
            </a:pPr>
            <a:r>
              <a:rPr lang="en-US" sz="1166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Issues, milestones, PR et releases gérés à la main, hors du flux de développement.</a:t>
            </a:r>
            <a:endParaRPr lang="en-US" sz="1166" dirty="0"/>
          </a:p>
        </p:txBody>
      </p:sp>
      <p:sp>
        <p:nvSpPr>
          <p:cNvPr id="15" name="Text 13"/>
          <p:cNvSpPr/>
          <p:nvPr/>
        </p:nvSpPr>
        <p:spPr>
          <a:xfrm>
            <a:off x="1066800" y="5203527"/>
            <a:ext cx="4940300" cy="43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211" b="1" dirty="0">
                <a:solidFill>
                  <a:srgbClr val="F2B9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Template :</a:t>
            </a:r>
            <a:r>
              <a:rPr lang="en-US" sz="1211" dirty="0">
                <a:solidFill>
                  <a:srgbClr val="F2B9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le teamleader pilote labels, milestones, tags et releases.</a:t>
            </a:r>
            <a:endParaRPr lang="en-US" sz="1211" dirty="0"/>
          </a:p>
        </p:txBody>
      </p:sp>
      <p:sp>
        <p:nvSpPr>
          <p:cNvPr id="16" name="Shape 14"/>
          <p:cNvSpPr/>
          <p:nvPr/>
        </p:nvSpPr>
        <p:spPr>
          <a:xfrm>
            <a:off x="6184900" y="4145756"/>
            <a:ext cx="5194300" cy="1696244"/>
          </a:xfrm>
          <a:prstGeom prst="roundRect">
            <a:avLst>
              <a:gd name="adj" fmla="val 5990"/>
            </a:avLst>
          </a:prstGeom>
          <a:solidFill>
            <a:srgbClr val="1E2B4A"/>
          </a:solidFill>
          <a:ln/>
        </p:spPr>
      </p:sp>
      <p:sp>
        <p:nvSpPr>
          <p:cNvPr id="17" name="Text 15"/>
          <p:cNvSpPr/>
          <p:nvPr/>
        </p:nvSpPr>
        <p:spPr>
          <a:xfrm>
            <a:off x="6438900" y="4374356"/>
            <a:ext cx="4826889" cy="241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2"/>
              </a:lnSpc>
              <a:buNone/>
            </a:pPr>
            <a:r>
              <a:rPr lang="en-US" sz="1435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Tests écrits après coup</a:t>
            </a:r>
            <a:endParaRPr lang="en-US" sz="1435" dirty="0"/>
          </a:p>
        </p:txBody>
      </p:sp>
      <p:sp>
        <p:nvSpPr>
          <p:cNvPr id="18" name="Text 16"/>
          <p:cNvSpPr/>
          <p:nvPr/>
        </p:nvSpPr>
        <p:spPr>
          <a:xfrm>
            <a:off x="6438900" y="4692055"/>
            <a:ext cx="4826889" cy="43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32"/>
              </a:lnSpc>
              <a:buNone/>
            </a:pPr>
            <a:r>
              <a:rPr lang="en-US" sz="1166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 tests arrivent en fin de cycle, mal alignés sur les specs, sans garantie de non-régression.</a:t>
            </a:r>
            <a:endParaRPr lang="en-US" sz="1166" dirty="0"/>
          </a:p>
        </p:txBody>
      </p:sp>
      <p:sp>
        <p:nvSpPr>
          <p:cNvPr id="19" name="Text 17"/>
          <p:cNvSpPr/>
          <p:nvPr/>
        </p:nvSpPr>
        <p:spPr>
          <a:xfrm>
            <a:off x="6438900" y="5203527"/>
            <a:ext cx="4826889" cy="43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32"/>
              </a:lnSpc>
              <a:buNone/>
            </a:pPr>
            <a:r>
              <a:rPr lang="en-US" sz="1166" b="1" dirty="0">
                <a:solidFill>
                  <a:srgbClr val="F2B9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Template :</a:t>
            </a:r>
            <a:r>
              <a:rPr lang="en-US" sz="1166" dirty="0">
                <a:solidFill>
                  <a:srgbClr val="F2B9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TDD natif, un agent écrit les tests en parallèle du développement.</a:t>
            </a:r>
            <a:endParaRPr lang="en-US" sz="1166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24519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Code · template projet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2369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7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b="1" spc="150" kern="0" dirty="0">
                <a:solidFill>
                  <a:srgbClr val="E0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SUIVI GITHUB</a:t>
            </a:r>
            <a:endParaRPr lang="en-US" sz="1159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91208"/>
            <a:ext cx="10883392" cy="925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53"/>
              </a:lnSpc>
              <a:buNone/>
            </a:pPr>
            <a:r>
              <a:rPr lang="en-US" sz="3230" b="1" i="0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projet est suivi par des issues, groupées en lots, regroupées en milestone</a:t>
            </a:r>
            <a:endParaRPr lang="en-US" sz="3230" dirty="0"/>
          </a:p>
        </p:txBody>
      </p:sp>
      <p:sp>
        <p:nvSpPr>
          <p:cNvPr id="4" name="Shape 2"/>
          <p:cNvSpPr/>
          <p:nvPr/>
        </p:nvSpPr>
        <p:spPr>
          <a:xfrm>
            <a:off x="812800" y="2245717"/>
            <a:ext cx="6756400" cy="3596283"/>
          </a:xfrm>
          <a:prstGeom prst="roundRect">
            <a:avLst>
              <a:gd name="adj" fmla="val 2825"/>
            </a:avLst>
          </a:prstGeom>
          <a:solidFill>
            <a:srgbClr val="16213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423517"/>
            <a:ext cx="219456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Milestone v1.2.0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239782" y="2450207"/>
            <a:ext cx="21262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= la version de production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22350" y="2798167"/>
            <a:ext cx="2036167" cy="1655862"/>
          </a:xfrm>
          <a:prstGeom prst="roundRect">
            <a:avLst>
              <a:gd name="adj" fmla="val 4218"/>
            </a:avLst>
          </a:prstGeom>
          <a:solidFill>
            <a:srgbClr val="F6F5F0"/>
          </a:solidFill>
          <a:ln w="12700">
            <a:solidFill>
              <a:srgbClr val="2C8C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906117"/>
            <a:ext cx="184871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C8C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LOT-1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6175" y="3203873"/>
            <a:ext cx="1788517" cy="534591"/>
          </a:xfrm>
          <a:prstGeom prst="roundRect">
            <a:avLst>
              <a:gd name="adj" fmla="val 8909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  <p:txBody>
          <a:bodyPr wrap="square" lIns="65426" tIns="40026" rIns="14626" bIns="14626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#41 Modèle de données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6175" y="3808313"/>
            <a:ext cx="1788517" cy="534591"/>
          </a:xfrm>
          <a:prstGeom prst="roundRect">
            <a:avLst>
              <a:gd name="adj" fmla="val 8909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  <p:txBody>
          <a:bodyPr wrap="square" lIns="65426" tIns="40026" rIns="14626" bIns="14626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#42 API d’authentification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72817" y="2798167"/>
            <a:ext cx="2036266" cy="1655862"/>
          </a:xfrm>
          <a:prstGeom prst="roundRect">
            <a:avLst>
              <a:gd name="adj" fmla="val 4218"/>
            </a:avLst>
          </a:prstGeom>
          <a:solidFill>
            <a:srgbClr val="F6F5F0"/>
          </a:solidFill>
          <a:ln w="12700">
            <a:solidFill>
              <a:srgbClr val="2C8C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3467" y="2906117"/>
            <a:ext cx="184881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C8C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LOT-2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6642" y="3203873"/>
            <a:ext cx="1788616" cy="534591"/>
          </a:xfrm>
          <a:prstGeom prst="roundRect">
            <a:avLst>
              <a:gd name="adj" fmla="val 8909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  <p:txBody>
          <a:bodyPr wrap="square" lIns="65426" tIns="40026" rIns="14626" bIns="14626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#43 Écran de connexion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6642" y="3808313"/>
            <a:ext cx="1788616" cy="534591"/>
          </a:xfrm>
          <a:prstGeom prst="roundRect">
            <a:avLst>
              <a:gd name="adj" fmla="val 8909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  <p:txBody>
          <a:bodyPr wrap="square" lIns="65426" tIns="40026" rIns="14626" bIns="14626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#45 Correction bug #38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23384" y="2798167"/>
            <a:ext cx="2036266" cy="1655862"/>
          </a:xfrm>
          <a:prstGeom prst="roundRect">
            <a:avLst>
              <a:gd name="adj" fmla="val 4218"/>
            </a:avLst>
          </a:prstGeom>
          <a:solidFill>
            <a:srgbClr val="F6F5F0"/>
          </a:solidFill>
          <a:ln w="12700">
            <a:solidFill>
              <a:srgbClr val="2C8C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4034" y="2906117"/>
            <a:ext cx="184881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C8C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LOT-3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47209" y="3203873"/>
            <a:ext cx="1788616" cy="321270"/>
          </a:xfrm>
          <a:prstGeom prst="roundRect">
            <a:avLst>
              <a:gd name="adj" fmla="val 14824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  <p:txBody>
          <a:bodyPr wrap="square" lIns="65426" tIns="40026" rIns="14626" bIns="14626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#44 Export CSV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47209" y="3594993"/>
            <a:ext cx="1788616" cy="534591"/>
          </a:xfrm>
          <a:prstGeom prst="roundRect">
            <a:avLst>
              <a:gd name="adj" fmla="val 8909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  <p:txBody>
          <a:bodyPr wrap="square" lIns="65426" tIns="40026" rIns="14626" bIns="14626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#46 Documentation API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16000" y="4561979"/>
            <a:ext cx="65405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lot à la fois : DEV, revue, QA, QUALIF, votre validation, push, CI verte, issues fermées. Puis le suivant. La mise en production n’a lieu qu’une fois, à la fin du milestone.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26375" y="2248892"/>
            <a:ext cx="3549650" cy="826095"/>
          </a:xfrm>
          <a:prstGeom prst="roundRect">
            <a:avLst>
              <a:gd name="adj" fmla="val 7302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69250" y="2353667"/>
            <a:ext cx="3361817" cy="222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b="1" dirty="0">
                <a:solidFill>
                  <a:srgbClr val="7A81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Besoin : suivre chaque travail</a:t>
            </a:r>
            <a:endParaRPr lang="en-US" sz="1121" dirty="0"/>
          </a:p>
        </p:txBody>
      </p:sp>
      <p:sp>
        <p:nvSpPr>
          <p:cNvPr id="22" name="Text 20"/>
          <p:cNvSpPr/>
          <p:nvPr/>
        </p:nvSpPr>
        <p:spPr>
          <a:xfrm>
            <a:off x="7969250" y="2589312"/>
            <a:ext cx="3403600" cy="406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81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Une issue GitHub</a:t>
            </a:r>
            <a:r>
              <a:rPr lang="en-US" sz="118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avec un label qui dit sa phase</a:t>
            </a:r>
            <a:endParaRPr lang="en-US" sz="1181" dirty="0"/>
          </a:p>
        </p:txBody>
      </p:sp>
      <p:sp>
        <p:nvSpPr>
          <p:cNvPr id="23" name="Shape 21"/>
          <p:cNvSpPr/>
          <p:nvPr/>
        </p:nvSpPr>
        <p:spPr>
          <a:xfrm>
            <a:off x="7826375" y="3170238"/>
            <a:ext cx="3549650" cy="825996"/>
          </a:xfrm>
          <a:prstGeom prst="roundRect">
            <a:avLst>
              <a:gd name="adj" fmla="val 7303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69250" y="3275013"/>
            <a:ext cx="3361817" cy="222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b="1" dirty="0">
                <a:solidFill>
                  <a:srgbClr val="7A81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Besoin : livrer par étapes validables</a:t>
            </a:r>
            <a:endParaRPr lang="en-US" sz="1121" dirty="0"/>
          </a:p>
        </p:txBody>
      </p:sp>
      <p:sp>
        <p:nvSpPr>
          <p:cNvPr id="25" name="Text 23"/>
          <p:cNvSpPr/>
          <p:nvPr/>
        </p:nvSpPr>
        <p:spPr>
          <a:xfrm>
            <a:off x="7969250" y="3510657"/>
            <a:ext cx="3403600" cy="40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5"/>
              </a:lnSpc>
              <a:buNone/>
            </a:pPr>
            <a:r>
              <a:rPr lang="en-US" sz="1174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lot</a:t>
            </a:r>
            <a:r>
              <a:rPr lang="en-US" sz="1174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testé en QUALIF et validé avant le suivant</a:t>
            </a:r>
            <a:endParaRPr lang="en-US" sz="1174" dirty="0"/>
          </a:p>
        </p:txBody>
      </p:sp>
      <p:sp>
        <p:nvSpPr>
          <p:cNvPr id="26" name="Shape 24"/>
          <p:cNvSpPr/>
          <p:nvPr/>
        </p:nvSpPr>
        <p:spPr>
          <a:xfrm>
            <a:off x="7826375" y="4091484"/>
            <a:ext cx="3549650" cy="826095"/>
          </a:xfrm>
          <a:prstGeom prst="roundRect">
            <a:avLst>
              <a:gd name="adj" fmla="val 7302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69250" y="4196259"/>
            <a:ext cx="3361817" cy="222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b="1" dirty="0">
                <a:solidFill>
                  <a:srgbClr val="7A81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Besoin : nommer la version de prod</a:t>
            </a:r>
            <a:endParaRPr lang="en-US" sz="1121" dirty="0"/>
          </a:p>
        </p:txBody>
      </p:sp>
      <p:sp>
        <p:nvSpPr>
          <p:cNvPr id="28" name="Text 26"/>
          <p:cNvSpPr/>
          <p:nvPr/>
        </p:nvSpPr>
        <p:spPr>
          <a:xfrm>
            <a:off x="7969250" y="4431903"/>
            <a:ext cx="3361817" cy="406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9"/>
              </a:lnSpc>
              <a:buNone/>
            </a:pPr>
            <a:r>
              <a:rPr lang="en-US" sz="1118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milestone</a:t>
            </a:r>
            <a:r>
              <a:rPr lang="en-US" sz="1118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dont le titre fixe X.Y.Z pour tout le cycle</a:t>
            </a:r>
            <a:endParaRPr lang="en-US" sz="1118" dirty="0"/>
          </a:p>
        </p:txBody>
      </p:sp>
      <p:sp>
        <p:nvSpPr>
          <p:cNvPr id="29" name="Shape 27"/>
          <p:cNvSpPr/>
          <p:nvPr/>
        </p:nvSpPr>
        <p:spPr>
          <a:xfrm>
            <a:off x="7826375" y="5012829"/>
            <a:ext cx="3549650" cy="825996"/>
          </a:xfrm>
          <a:prstGeom prst="roundRect">
            <a:avLst>
              <a:gd name="adj" fmla="val 7303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69250" y="5117604"/>
            <a:ext cx="3361817" cy="222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b="1" dirty="0">
                <a:solidFill>
                  <a:srgbClr val="7A81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Besoin : prouver la livraison</a:t>
            </a:r>
            <a:endParaRPr lang="en-US" sz="1121" dirty="0"/>
          </a:p>
        </p:txBody>
      </p:sp>
      <p:sp>
        <p:nvSpPr>
          <p:cNvPr id="31" name="Text 29"/>
          <p:cNvSpPr/>
          <p:nvPr/>
        </p:nvSpPr>
        <p:spPr>
          <a:xfrm>
            <a:off x="7969250" y="5353248"/>
            <a:ext cx="3361817" cy="40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9"/>
              </a:lnSpc>
              <a:buNone/>
            </a:pPr>
            <a:r>
              <a:rPr lang="en-US" sz="1118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Tag, CI, release GitHub</a:t>
            </a:r>
            <a:r>
              <a:rPr lang="en-US" sz="1118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milestone fermé automatiquement</a:t>
            </a:r>
            <a:endParaRPr lang="en-US" sz="1118" dirty="0"/>
          </a:p>
        </p:txBody>
      </p:sp>
      <p:sp>
        <p:nvSpPr>
          <p:cNvPr id="32" name="Text 30"/>
          <p:cNvSpPr/>
          <p:nvPr/>
        </p:nvSpPr>
        <p:spPr>
          <a:xfrm>
            <a:off x="812800" y="6238280"/>
            <a:ext cx="24519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1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Code · template projet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2369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1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0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SUIVI GITHUB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label de l’issue dit où elle en est, en temps réel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47427" y="1882080"/>
            <a:ext cx="1048246" cy="391120"/>
          </a:xfrm>
          <a:prstGeom prst="roundRect">
            <a:avLst>
              <a:gd name="adj" fmla="val 50000"/>
            </a:avLst>
          </a:prstGeom>
          <a:solidFill>
            <a:srgbClr val="0075C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PLANNING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87400" y="2349401"/>
            <a:ext cx="11684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à élaborer ou valider</a:t>
            </a:r>
            <a:endParaRPr lang="en-US" sz="1200" dirty="0"/>
          </a:p>
        </p:txBody>
      </p:sp>
      <p:pic>
        <p:nvPicPr>
          <p:cNvPr id="6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32000" y="2250281"/>
            <a:ext cx="254000" cy="127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27213" y="1882080"/>
            <a:ext cx="638274" cy="391120"/>
          </a:xfrm>
          <a:prstGeom prst="roundRect">
            <a:avLst>
              <a:gd name="adj" fmla="val 50000"/>
            </a:avLst>
          </a:prstGeom>
          <a:solidFill>
            <a:srgbClr val="BFDAD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362200" y="2349401"/>
            <a:ext cx="11684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validé, dev pas lancé</a:t>
            </a:r>
            <a:endParaRPr lang="en-US" sz="1200" dirty="0"/>
          </a:p>
        </p:txBody>
      </p:sp>
      <p:pic>
        <p:nvPicPr>
          <p:cNvPr id="9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06800" y="2250281"/>
            <a:ext cx="254000" cy="127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19947" y="1882080"/>
            <a:ext cx="1002506" cy="391120"/>
          </a:xfrm>
          <a:prstGeom prst="roundRect">
            <a:avLst>
              <a:gd name="adj" fmla="val 50000"/>
            </a:avLst>
          </a:prstGeom>
          <a:solidFill>
            <a:srgbClr val="E4E66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COURS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937000" y="2349401"/>
            <a:ext cx="11684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Développement démarré</a:t>
            </a:r>
            <a:endParaRPr lang="en-US" sz="1200" dirty="0"/>
          </a:p>
        </p:txBody>
      </p:sp>
      <p:pic>
        <p:nvPicPr>
          <p:cNvPr id="12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181600" y="2250281"/>
            <a:ext cx="254000" cy="127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549106" y="1981101"/>
            <a:ext cx="1093788" cy="391120"/>
          </a:xfrm>
          <a:prstGeom prst="roundRect">
            <a:avLst>
              <a:gd name="adj" fmla="val 50000"/>
            </a:avLst>
          </a:prstGeom>
          <a:solidFill>
            <a:srgbClr val="D876E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REVIEW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495925" y="2448421"/>
            <a:ext cx="120015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Revue de code</a:t>
            </a:r>
            <a:endParaRPr lang="en-US" sz="1200" dirty="0"/>
          </a:p>
        </p:txBody>
      </p:sp>
      <p:pic>
        <p:nvPicPr>
          <p:cNvPr id="15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56400" y="2250281"/>
            <a:ext cx="254000" cy="1270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20062" y="1981101"/>
            <a:ext cx="701477" cy="391120"/>
          </a:xfrm>
          <a:prstGeom prst="roundRect">
            <a:avLst>
              <a:gd name="adj" fmla="val 50000"/>
            </a:avLst>
          </a:prstGeom>
          <a:solidFill>
            <a:srgbClr val="F9D0C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QA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7310160" y="2448421"/>
            <a:ext cx="721281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Tests QA</a:t>
            </a:r>
            <a:endParaRPr lang="en-US" sz="1200" dirty="0"/>
          </a:p>
        </p:txBody>
      </p:sp>
      <p:pic>
        <p:nvPicPr>
          <p:cNvPr id="18" name="Image 4" descr="arrow-righ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331200" y="2250281"/>
            <a:ext cx="254000" cy="1270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909645" y="1882080"/>
            <a:ext cx="671909" cy="391120"/>
          </a:xfrm>
          <a:prstGeom prst="roundRect">
            <a:avLst>
              <a:gd name="adj" fmla="val 50000"/>
            </a:avLst>
          </a:prstGeom>
          <a:solidFill>
            <a:srgbClr val="0E8A1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DONE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8661400" y="2349401"/>
            <a:ext cx="11684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Livrée, QA validée</a:t>
            </a:r>
            <a:endParaRPr lang="en-US" sz="1200" dirty="0"/>
          </a:p>
        </p:txBody>
      </p:sp>
      <p:pic>
        <p:nvPicPr>
          <p:cNvPr id="21" name="Image 5" descr="arrow-righ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906000" y="2250281"/>
            <a:ext cx="254000" cy="1270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423823" y="1981101"/>
            <a:ext cx="793055" cy="391120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Fermée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10165804" y="2448421"/>
            <a:ext cx="1309092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Push et CI verte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815975" y="3053457"/>
            <a:ext cx="3397250" cy="1266031"/>
          </a:xfrm>
          <a:prstGeom prst="roundRect">
            <a:avLst>
              <a:gd name="adj" fmla="val 5768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1022350" y="3234432"/>
            <a:ext cx="30740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Changé dès l’événement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1022350" y="3498552"/>
            <a:ext cx="3074035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Retour d’un agent ou validation d’un gate : le label suit, pas besoin d’attendre l’ordre suivant.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4397375" y="3053457"/>
            <a:ext cx="3397250" cy="1266031"/>
          </a:xfrm>
          <a:prstGeom prst="roundRect">
            <a:avLst>
              <a:gd name="adj" fmla="val 5768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4603750" y="3234432"/>
            <a:ext cx="30740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Deux statuts à part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4603750" y="3498552"/>
            <a:ext cx="30740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BLOQUE</a:t>
            </a: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 cumule avec la phase en cours. </a:t>
            </a:r>
            <a:r>
              <a:rPr lang="en-US" sz="1200" b="1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ABANDONNE</a:t>
            </a: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est terminal.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7978775" y="3053457"/>
            <a:ext cx="3397250" cy="1266031"/>
          </a:xfrm>
          <a:prstGeom prst="roundRect">
            <a:avLst>
              <a:gd name="adj" fmla="val 5768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8185150" y="3234432"/>
            <a:ext cx="30740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Entrée dans le cycle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8185150" y="3498552"/>
            <a:ext cx="3074035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Une issue du backlog entre en PLANNING au premier </a:t>
            </a:r>
            <a:r>
              <a:rPr lang="en-US" sz="1200" b="1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/feature #n</a:t>
            </a: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ou </a:t>
            </a:r>
            <a:r>
              <a:rPr lang="en-US" sz="1200" b="1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/bugfix #n</a:t>
            </a: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Rejet ou correctif : retour EN COURS.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812800" y="6238280"/>
            <a:ext cx="24519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1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Code · template projet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112369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1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0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SUIVI GITHUB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l’issue à la release, chaque étape laisse une trace sur GitHub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2309416"/>
            <a:ext cx="1441450" cy="1609923"/>
          </a:xfrm>
          <a:prstGeom prst="roundRect">
            <a:avLst>
              <a:gd name="adj" fmla="val 5066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6150" y="2439591"/>
            <a:ext cx="1231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C8C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6150" y="2716411"/>
            <a:ext cx="12319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Issue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46150" y="2977952"/>
            <a:ext cx="1231900" cy="817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Créée au backlog, label de type : feature, bug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39975" y="2309416"/>
            <a:ext cx="1441450" cy="1609923"/>
          </a:xfrm>
          <a:prstGeom prst="roundRect">
            <a:avLst>
              <a:gd name="adj" fmla="val 5066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70150" y="2439591"/>
            <a:ext cx="1231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C8C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70150" y="2716411"/>
            <a:ext cx="12319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Milestone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70150" y="2977952"/>
            <a:ext cx="1231900" cy="619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Ouvert, branche milestone/v1.2.0 créée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63975" y="2309416"/>
            <a:ext cx="1441450" cy="1609923"/>
          </a:xfrm>
          <a:prstGeom prst="roundRect">
            <a:avLst>
              <a:gd name="adj" fmla="val 5066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94150" y="2439591"/>
            <a:ext cx="1231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C8C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94150" y="2716411"/>
            <a:ext cx="12319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Labels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94150" y="2977952"/>
            <a:ext cx="1231900" cy="619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PLANNING à DONE, changés à chaque phase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87975" y="2309416"/>
            <a:ext cx="1441450" cy="1609923"/>
          </a:xfrm>
          <a:prstGeom prst="roundRect">
            <a:avLst>
              <a:gd name="adj" fmla="val 5066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18150" y="2439591"/>
            <a:ext cx="1231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C8C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18150" y="2716411"/>
            <a:ext cx="12319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QUALIF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18150" y="2977952"/>
            <a:ext cx="1231900" cy="817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Builds 1.2.0.1, 1.2.0.2… déployés et testés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11975" y="2309416"/>
            <a:ext cx="1441450" cy="1609923"/>
          </a:xfrm>
          <a:prstGeom prst="roundRect">
            <a:avLst>
              <a:gd name="adj" fmla="val 5066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2150" y="2439591"/>
            <a:ext cx="1231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C8C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42150" y="2716411"/>
            <a:ext cx="12319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Lot livré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2150" y="2977952"/>
            <a:ext cx="1231900" cy="619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Push, CI de branche verte, issues fermées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432800" y="2306241"/>
            <a:ext cx="1435100" cy="1616273"/>
          </a:xfrm>
          <a:prstGeom prst="roundRect">
            <a:avLst>
              <a:gd name="adj" fmla="val 5310"/>
            </a:avLst>
          </a:prstGeom>
          <a:solidFill>
            <a:srgbClr val="16213A"/>
          </a:solidFill>
          <a:ln/>
        </p:spPr>
      </p:sp>
      <p:sp>
        <p:nvSpPr>
          <p:cNvPr id="25" name="Shape 23"/>
          <p:cNvSpPr/>
          <p:nvPr/>
        </p:nvSpPr>
        <p:spPr>
          <a:xfrm>
            <a:off x="8432800" y="2306241"/>
            <a:ext cx="1435100" cy="1616273"/>
          </a:xfrm>
          <a:custGeom>
            <a:avLst/>
            <a:gdLst/>
            <a:ahLst/>
            <a:cxnLst/>
            <a:rect l="l" t="t" r="r" b="b"/>
            <a:pathLst>
              <a:path w="1435100" h="1616273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358900" y="0"/>
                </a:lnTo>
                <a:arcTo hR="76200" wR="76200" stAng="16200000" swAng="5400000"/>
                <a:lnTo>
                  <a:pt x="1435100" y="76200"/>
                </a:lnTo>
                <a:arcTo hR="44450" wR="76200" stAng="0" swAng="-5400000"/>
                <a:lnTo>
                  <a:pt x="76200" y="31750"/>
                </a:lnTo>
                <a:arcTo hR="44450" wR="76200" stAng="16200000" swAng="-5400000"/>
                <a:close/>
              </a:path>
            </a:pathLst>
          </a:custGeom>
          <a:solidFill>
            <a:srgbClr val="E0702A"/>
          </a:solidFill>
          <a:ln/>
        </p:spPr>
      </p:sp>
      <p:sp>
        <p:nvSpPr>
          <p:cNvPr id="26" name="Text 24"/>
          <p:cNvSpPr/>
          <p:nvPr/>
        </p:nvSpPr>
        <p:spPr>
          <a:xfrm>
            <a:off x="8559800" y="2464991"/>
            <a:ext cx="1231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0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59800" y="2741811"/>
            <a:ext cx="12319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Tag + CI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59800" y="3003352"/>
            <a:ext cx="1231900" cy="817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Merge sur main, tag v1.2.0, CI de release surveillée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944100" y="2306241"/>
            <a:ext cx="1435100" cy="1616273"/>
          </a:xfrm>
          <a:prstGeom prst="roundRect">
            <a:avLst>
              <a:gd name="adj" fmla="val 5310"/>
            </a:avLst>
          </a:prstGeom>
          <a:solidFill>
            <a:srgbClr val="16213A"/>
          </a:solidFill>
          <a:ln/>
        </p:spPr>
      </p:sp>
      <p:sp>
        <p:nvSpPr>
          <p:cNvPr id="30" name="Shape 28"/>
          <p:cNvSpPr/>
          <p:nvPr/>
        </p:nvSpPr>
        <p:spPr>
          <a:xfrm>
            <a:off x="9944100" y="2306241"/>
            <a:ext cx="1435100" cy="1616273"/>
          </a:xfrm>
          <a:custGeom>
            <a:avLst/>
            <a:gdLst/>
            <a:ahLst/>
            <a:cxnLst/>
            <a:rect l="l" t="t" r="r" b="b"/>
            <a:pathLst>
              <a:path w="1435100" h="1616273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358900" y="0"/>
                </a:lnTo>
                <a:arcTo hR="76200" wR="76200" stAng="16200000" swAng="5400000"/>
                <a:lnTo>
                  <a:pt x="1435100" y="76200"/>
                </a:lnTo>
                <a:arcTo hR="44450" wR="76200" stAng="0" swAng="-5400000"/>
                <a:lnTo>
                  <a:pt x="76200" y="31750"/>
                </a:lnTo>
                <a:arcTo hR="44450" wR="76200" stAng="16200000" swAng="-5400000"/>
                <a:close/>
              </a:path>
            </a:pathLst>
          </a:custGeom>
          <a:solidFill>
            <a:srgbClr val="E0702A"/>
          </a:solidFill>
          <a:ln/>
        </p:spPr>
      </p:sp>
      <p:sp>
        <p:nvSpPr>
          <p:cNvPr id="31" name="Text 29"/>
          <p:cNvSpPr/>
          <p:nvPr/>
        </p:nvSpPr>
        <p:spPr>
          <a:xfrm>
            <a:off x="10071100" y="2464991"/>
            <a:ext cx="1231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0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71100" y="2741811"/>
            <a:ext cx="12319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Release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71100" y="3003352"/>
            <a:ext cx="1231900" cy="817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Release GitHub, milestone fermé, branche supprimée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2800" y="4189214"/>
            <a:ext cx="3403600" cy="0"/>
          </a:xfrm>
          <a:prstGeom prst="line">
            <a:avLst/>
          </a:prstGeom>
          <a:noFill/>
          <a:ln w="25400">
            <a:solidFill>
              <a:srgbClr val="2C8C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2800" y="4328914"/>
            <a:ext cx="35057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Une seule branche de travail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12800" y="4605734"/>
            <a:ext cx="3505708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Celle du milestone, tenue par le teamleader. Les agents y commitent sans jamais en changer. Les tests tournent sur du code commité.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394200" y="4189214"/>
            <a:ext cx="3403600" cy="0"/>
          </a:xfrm>
          <a:prstGeom prst="line">
            <a:avLst/>
          </a:prstGeom>
          <a:noFill/>
          <a:ln w="25400">
            <a:solidFill>
              <a:srgbClr val="2C8C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94200" y="4328914"/>
            <a:ext cx="35057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CI décide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394200" y="4605734"/>
            <a:ext cx="3505708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Une issue n’est fermée que si la CI est verte. En PROD, un échec provoque un revert et la suppression du tag ; rien ne reste à moitié publié.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975600" y="4189214"/>
            <a:ext cx="3403600" cy="0"/>
          </a:xfrm>
          <a:prstGeom prst="line">
            <a:avLst/>
          </a:prstGeom>
          <a:noFill/>
          <a:ln w="25400">
            <a:solidFill>
              <a:srgbClr val="2C8C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75600" y="4328914"/>
            <a:ext cx="35057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Rien à faire à la main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975600" y="4605734"/>
            <a:ext cx="3505708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Labels, milestones, tags, releases et nettoyage de branches sont tenus par le teamleader et le deployer. GitHub reflète l’état réel, consultable par tous.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12800" y="6238280"/>
            <a:ext cx="24519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1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Code · template projet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2369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1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0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LE CYCLE DE DÉVELOPPEMENT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Une commande, un enchaînement fixe, quatre arrêts pour vous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2800" y="2306241"/>
            <a:ext cx="1800820" cy="1109663"/>
          </a:xfrm>
          <a:prstGeom prst="roundRect">
            <a:avLst>
              <a:gd name="adj" fmla="val 6867"/>
            </a:avLst>
          </a:prstGeom>
          <a:solidFill>
            <a:srgbClr val="E0702A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433241"/>
            <a:ext cx="157222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52500" y="2682081"/>
            <a:ext cx="157222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Confirmation du démarrage</a:t>
            </a:r>
            <a:endParaRPr lang="en-US" sz="12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89820" y="2803922"/>
            <a:ext cx="228600" cy="1143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997795" y="2309416"/>
            <a:ext cx="1807270" cy="1103313"/>
          </a:xfrm>
          <a:prstGeom prst="roundRect">
            <a:avLst>
              <a:gd name="adj" fmla="val 6619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40670" y="2439591"/>
            <a:ext cx="157232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C8C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140670" y="2688431"/>
            <a:ext cx="157232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Contrats API, lots, estimation</a:t>
            </a:r>
            <a:endParaRPr lang="en-US" sz="1200" dirty="0"/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84440" y="2803922"/>
            <a:ext cx="228600" cy="1143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189240" y="2306241"/>
            <a:ext cx="1800820" cy="1109663"/>
          </a:xfrm>
          <a:prstGeom prst="roundRect">
            <a:avLst>
              <a:gd name="adj" fmla="val 6867"/>
            </a:avLst>
          </a:prstGeom>
          <a:solidFill>
            <a:srgbClr val="E0702A"/>
          </a:solidFill>
          <a:ln/>
        </p:spPr>
      </p:sp>
      <p:sp>
        <p:nvSpPr>
          <p:cNvPr id="13" name="Text 9"/>
          <p:cNvSpPr/>
          <p:nvPr/>
        </p:nvSpPr>
        <p:spPr>
          <a:xfrm>
            <a:off x="5328940" y="2433241"/>
            <a:ext cx="157222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328940" y="2682081"/>
            <a:ext cx="157222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validé, alerte sur les ruptures</a:t>
            </a:r>
            <a:endParaRPr lang="en-US" sz="1200" dirty="0"/>
          </a:p>
        </p:txBody>
      </p:sp>
      <p:pic>
        <p:nvPicPr>
          <p:cNvPr id="15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66260" y="2803922"/>
            <a:ext cx="228600" cy="1143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374235" y="2309416"/>
            <a:ext cx="1807270" cy="1103313"/>
          </a:xfrm>
          <a:prstGeom prst="roundRect">
            <a:avLst>
              <a:gd name="adj" fmla="val 6619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517110" y="2439591"/>
            <a:ext cx="157232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C8C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TESTS ∥ DEV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517110" y="2688431"/>
            <a:ext cx="1572320" cy="619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Tests depuis les contrats, code pour les faire passer</a:t>
            </a:r>
            <a:endParaRPr lang="en-US" sz="1200" dirty="0"/>
          </a:p>
        </p:txBody>
      </p:sp>
      <p:pic>
        <p:nvPicPr>
          <p:cNvPr id="19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60880" y="2803922"/>
            <a:ext cx="228600" cy="1143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568855" y="2309416"/>
            <a:ext cx="1807170" cy="1103313"/>
          </a:xfrm>
          <a:prstGeom prst="roundRect">
            <a:avLst>
              <a:gd name="adj" fmla="val 6619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9711730" y="2439591"/>
            <a:ext cx="157222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C8C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 ∥ QA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9711730" y="2688431"/>
            <a:ext cx="1572220" cy="619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Couverture des contrats, tests joués, max 3 cycles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15975" y="3673078"/>
            <a:ext cx="1809750" cy="1103313"/>
          </a:xfrm>
          <a:prstGeom prst="roundRect">
            <a:avLst>
              <a:gd name="adj" fmla="val 6619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958850" y="3803253"/>
            <a:ext cx="15748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C8C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 + QUALIF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958850" y="4052094"/>
            <a:ext cx="1574800" cy="619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Changelog, build, publication, smoke tests</a:t>
            </a:r>
            <a:endParaRPr lang="en-US" sz="1200" dirty="0"/>
          </a:p>
        </p:txBody>
      </p:sp>
      <p:pic>
        <p:nvPicPr>
          <p:cNvPr id="26" name="Image 4" descr="arrow-righ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705100" y="4167584"/>
            <a:ext cx="228600" cy="11430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3009900" y="3669903"/>
            <a:ext cx="1803400" cy="1109663"/>
          </a:xfrm>
          <a:prstGeom prst="roundRect">
            <a:avLst>
              <a:gd name="adj" fmla="val 6867"/>
            </a:avLst>
          </a:prstGeom>
          <a:solidFill>
            <a:srgbClr val="E0702A"/>
          </a:solidFill>
          <a:ln/>
        </p:spPr>
      </p:sp>
      <p:sp>
        <p:nvSpPr>
          <p:cNvPr id="28" name="Text 21"/>
          <p:cNvSpPr/>
          <p:nvPr/>
        </p:nvSpPr>
        <p:spPr>
          <a:xfrm>
            <a:off x="3149600" y="3796903"/>
            <a:ext cx="15748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LOT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149600" y="4045744"/>
            <a:ext cx="15748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Vous testez le lot en QUALIF</a:t>
            </a:r>
            <a:endParaRPr lang="en-US" sz="1200" dirty="0"/>
          </a:p>
        </p:txBody>
      </p:sp>
      <p:pic>
        <p:nvPicPr>
          <p:cNvPr id="30" name="Image 5" descr="arrow-righ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889500" y="4167584"/>
            <a:ext cx="228600" cy="1143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5194300" y="3669903"/>
            <a:ext cx="1803400" cy="1109663"/>
          </a:xfrm>
          <a:prstGeom prst="roundRect">
            <a:avLst>
              <a:gd name="adj" fmla="val 6867"/>
            </a:avLst>
          </a:prstGeom>
          <a:solidFill>
            <a:srgbClr val="E0702A"/>
          </a:solidFill>
          <a:ln/>
        </p:spPr>
      </p:sp>
      <p:sp>
        <p:nvSpPr>
          <p:cNvPr id="32" name="Text 24"/>
          <p:cNvSpPr/>
          <p:nvPr/>
        </p:nvSpPr>
        <p:spPr>
          <a:xfrm>
            <a:off x="5334000" y="3796903"/>
            <a:ext cx="15748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4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5334000" y="4045744"/>
            <a:ext cx="15748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Feu vert pour la production</a:t>
            </a:r>
            <a:endParaRPr lang="en-US" sz="1200" dirty="0"/>
          </a:p>
        </p:txBody>
      </p:sp>
      <p:pic>
        <p:nvPicPr>
          <p:cNvPr id="34" name="Image 6" descr="arrow-right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073900" y="4167584"/>
            <a:ext cx="228600" cy="114300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7378700" y="3669903"/>
            <a:ext cx="1803400" cy="1109663"/>
          </a:xfrm>
          <a:prstGeom prst="roundRect">
            <a:avLst>
              <a:gd name="adj" fmla="val 6867"/>
            </a:avLst>
          </a:prstGeom>
          <a:solidFill>
            <a:srgbClr val="16213A"/>
          </a:solidFill>
          <a:ln/>
        </p:spPr>
      </p:sp>
      <p:sp>
        <p:nvSpPr>
          <p:cNvPr id="36" name="Text 27"/>
          <p:cNvSpPr/>
          <p:nvPr/>
        </p:nvSpPr>
        <p:spPr>
          <a:xfrm>
            <a:off x="7518400" y="3796903"/>
            <a:ext cx="15748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7518400" y="4045744"/>
            <a:ext cx="15748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Merge, tag, CI surveillée, release</a:t>
            </a:r>
            <a:endParaRPr lang="en-US" sz="1200" dirty="0"/>
          </a:p>
        </p:txBody>
      </p:sp>
      <p:pic>
        <p:nvPicPr>
          <p:cNvPr id="38" name="Image 7" descr="arrow-right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258300" y="4167584"/>
            <a:ext cx="228600" cy="114300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9566275" y="3673078"/>
            <a:ext cx="1809750" cy="1103313"/>
          </a:xfrm>
          <a:prstGeom prst="roundRect">
            <a:avLst>
              <a:gd name="adj" fmla="val 6619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9709150" y="3803253"/>
            <a:ext cx="15748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C8C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</a:t>
            </a:r>
            <a:endParaRPr lang="en-US" sz="1300" dirty="0"/>
          </a:p>
        </p:txBody>
      </p:sp>
      <p:sp>
        <p:nvSpPr>
          <p:cNvPr id="41" name="Text 31"/>
          <p:cNvSpPr/>
          <p:nvPr/>
        </p:nvSpPr>
        <p:spPr>
          <a:xfrm>
            <a:off x="9709150" y="4052094"/>
            <a:ext cx="15748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Release notes, site marketing</a:t>
            </a:r>
            <a:endParaRPr lang="en-US" sz="1200" dirty="0"/>
          </a:p>
        </p:txBody>
      </p:sp>
      <p:sp>
        <p:nvSpPr>
          <p:cNvPr id="42" name="Shape 32"/>
          <p:cNvSpPr/>
          <p:nvPr/>
        </p:nvSpPr>
        <p:spPr>
          <a:xfrm>
            <a:off x="812800" y="5046266"/>
            <a:ext cx="3403600" cy="0"/>
          </a:xfrm>
          <a:prstGeom prst="line">
            <a:avLst/>
          </a:prstGeom>
          <a:noFill/>
          <a:ln w="25400">
            <a:solidFill>
              <a:srgbClr val="2C8C99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812800" y="5160566"/>
            <a:ext cx="3505708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Test-driven.</a:t>
            </a: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Contrats API d’abord, tests écrits depuis les contrats, code écrit pour les faire passer. Détail slide suivante.</a:t>
            </a:r>
            <a:endParaRPr lang="en-US" sz="1200" dirty="0"/>
          </a:p>
        </p:txBody>
      </p:sp>
      <p:sp>
        <p:nvSpPr>
          <p:cNvPr id="44" name="Shape 34"/>
          <p:cNvSpPr/>
          <p:nvPr/>
        </p:nvSpPr>
        <p:spPr>
          <a:xfrm>
            <a:off x="4394200" y="5046266"/>
            <a:ext cx="3403600" cy="0"/>
          </a:xfrm>
          <a:prstGeom prst="line">
            <a:avLst/>
          </a:prstGeom>
          <a:noFill/>
          <a:ln w="25400">
            <a:solidFill>
              <a:srgbClr val="2C8C99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4394200" y="5160566"/>
            <a:ext cx="3505708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Même pipeline pour /bugfix</a:t>
            </a: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avec test de régression obligatoire, et pour </a:t>
            </a:r>
            <a:r>
              <a:rPr lang="en-US" sz="1200" b="1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/refactor</a:t>
            </a: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avec QA avant et après.</a:t>
            </a:r>
            <a:endParaRPr lang="en-US" sz="1200" dirty="0"/>
          </a:p>
        </p:txBody>
      </p:sp>
      <p:sp>
        <p:nvSpPr>
          <p:cNvPr id="46" name="Shape 36"/>
          <p:cNvSpPr/>
          <p:nvPr/>
        </p:nvSpPr>
        <p:spPr>
          <a:xfrm>
            <a:off x="7975600" y="5046266"/>
            <a:ext cx="3403600" cy="0"/>
          </a:xfrm>
          <a:prstGeom prst="line">
            <a:avLst/>
          </a:prstGeom>
          <a:noFill/>
          <a:ln w="25400">
            <a:solidFill>
              <a:srgbClr val="2C8C99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7975600" y="5160566"/>
            <a:ext cx="3505708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/hotfix</a:t>
            </a: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court-circuite la QUALIF pour une urgence de production, rattaché au milestone actif.</a:t>
            </a:r>
            <a:endParaRPr lang="en-US" sz="1200" dirty="0"/>
          </a:p>
        </p:txBody>
      </p:sp>
      <p:sp>
        <p:nvSpPr>
          <p:cNvPr id="48" name="Text 38"/>
          <p:cNvSpPr/>
          <p:nvPr/>
        </p:nvSpPr>
        <p:spPr>
          <a:xfrm>
            <a:off x="812800" y="6238280"/>
            <a:ext cx="24519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1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Code · template projet</a:t>
            </a:r>
            <a:endParaRPr lang="en-US" sz="1200" dirty="0"/>
          </a:p>
        </p:txBody>
      </p:sp>
      <p:sp>
        <p:nvSpPr>
          <p:cNvPr id="49" name="Text 39"/>
          <p:cNvSpPr/>
          <p:nvPr/>
        </p:nvSpPr>
        <p:spPr>
          <a:xfrm>
            <a:off x="111454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1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0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CE QUI RESTE ENTRE VOS MAINS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Quatre décisions par milestone, le reste s’enchaîne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2800" y="1882080"/>
            <a:ext cx="2527300" cy="2074863"/>
          </a:xfrm>
          <a:prstGeom prst="roundRect">
            <a:avLst>
              <a:gd name="adj" fmla="val 4897"/>
            </a:avLst>
          </a:prstGeom>
          <a:solidFill>
            <a:srgbClr val="1E2B4A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82080"/>
            <a:ext cx="2527300" cy="2074863"/>
          </a:xfrm>
          <a:custGeom>
            <a:avLst/>
            <a:gdLst/>
            <a:ahLst/>
            <a:cxnLst/>
            <a:rect l="l" t="t" r="r" b="b"/>
            <a:pathLst>
              <a:path w="2527300" h="2074863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25700" y="0"/>
                </a:lnTo>
                <a:arcTo hR="101600" wR="101600" stAng="16200000" swAng="5400000"/>
                <a:lnTo>
                  <a:pt x="25273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E0702A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148780"/>
            <a:ext cx="218452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16000" y="2524621"/>
            <a:ext cx="218452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Lancer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16000" y="2875062"/>
            <a:ext cx="2184527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teamleader résume l’issue et demande confirmation avant d’engager l’équipe.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92500" y="1882080"/>
            <a:ext cx="2527300" cy="2074863"/>
          </a:xfrm>
          <a:prstGeom prst="roundRect">
            <a:avLst>
              <a:gd name="adj" fmla="val 4897"/>
            </a:avLst>
          </a:prstGeom>
          <a:solidFill>
            <a:srgbClr val="1E2B4A"/>
          </a:solidFill>
          <a:ln/>
        </p:spPr>
      </p:sp>
      <p:sp>
        <p:nvSpPr>
          <p:cNvPr id="10" name="Shape 8"/>
          <p:cNvSpPr/>
          <p:nvPr/>
        </p:nvSpPr>
        <p:spPr>
          <a:xfrm>
            <a:off x="3492500" y="1882080"/>
            <a:ext cx="2527300" cy="2074863"/>
          </a:xfrm>
          <a:custGeom>
            <a:avLst/>
            <a:gdLst/>
            <a:ahLst/>
            <a:cxnLst/>
            <a:rect l="l" t="t" r="r" b="b"/>
            <a:pathLst>
              <a:path w="2527300" h="2074863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25700" y="0"/>
                </a:lnTo>
                <a:arcTo hR="101600" wR="101600" stAng="16200000" swAng="5400000"/>
                <a:lnTo>
                  <a:pt x="25273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E0702A"/>
          </a:solidFill>
          <a:ln/>
        </p:spPr>
      </p:sp>
      <p:sp>
        <p:nvSpPr>
          <p:cNvPr id="11" name="Text 9"/>
          <p:cNvSpPr/>
          <p:nvPr/>
        </p:nvSpPr>
        <p:spPr>
          <a:xfrm>
            <a:off x="3695700" y="2148780"/>
            <a:ext cx="218452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95700" y="2524621"/>
            <a:ext cx="218452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Valider le plan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95700" y="2875062"/>
            <a:ext cx="2184527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Lots, contrats API, estimation. Les ruptures de compatibilité sont signalées ici.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882080"/>
            <a:ext cx="2527300" cy="2074863"/>
          </a:xfrm>
          <a:prstGeom prst="roundRect">
            <a:avLst>
              <a:gd name="adj" fmla="val 4897"/>
            </a:avLst>
          </a:prstGeom>
          <a:solidFill>
            <a:srgbClr val="1E2B4A"/>
          </a:solidFill>
          <a:ln/>
        </p:spPr>
      </p:sp>
      <p:sp>
        <p:nvSpPr>
          <p:cNvPr id="15" name="Shape 13"/>
          <p:cNvSpPr/>
          <p:nvPr/>
        </p:nvSpPr>
        <p:spPr>
          <a:xfrm>
            <a:off x="6172200" y="1882080"/>
            <a:ext cx="2527300" cy="2074863"/>
          </a:xfrm>
          <a:custGeom>
            <a:avLst/>
            <a:gdLst/>
            <a:ahLst/>
            <a:cxnLst/>
            <a:rect l="l" t="t" r="r" b="b"/>
            <a:pathLst>
              <a:path w="2527300" h="2074863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25700" y="0"/>
                </a:lnTo>
                <a:arcTo hR="101600" wR="101600" stAng="16200000" swAng="5400000"/>
                <a:lnTo>
                  <a:pt x="25273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E0702A"/>
          </a:solidFill>
          <a:ln/>
        </p:spPr>
      </p:sp>
      <p:sp>
        <p:nvSpPr>
          <p:cNvPr id="16" name="Text 14"/>
          <p:cNvSpPr/>
          <p:nvPr/>
        </p:nvSpPr>
        <p:spPr>
          <a:xfrm>
            <a:off x="6375400" y="2148780"/>
            <a:ext cx="218452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LOT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75400" y="2524621"/>
            <a:ext cx="218452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Tester en QUALIF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75400" y="2875062"/>
            <a:ext cx="2184527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Chaque lot déployé, avec l’URL et les scénarios à vérifier. Oui, ou retour en développement.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51900" y="1882080"/>
            <a:ext cx="2527300" cy="2074863"/>
          </a:xfrm>
          <a:prstGeom prst="roundRect">
            <a:avLst>
              <a:gd name="adj" fmla="val 4897"/>
            </a:avLst>
          </a:prstGeom>
          <a:solidFill>
            <a:srgbClr val="1E2B4A"/>
          </a:solidFill>
          <a:ln/>
        </p:spPr>
      </p:sp>
      <p:sp>
        <p:nvSpPr>
          <p:cNvPr id="20" name="Shape 18"/>
          <p:cNvSpPr/>
          <p:nvPr/>
        </p:nvSpPr>
        <p:spPr>
          <a:xfrm>
            <a:off x="8851900" y="1882080"/>
            <a:ext cx="2527300" cy="2074863"/>
          </a:xfrm>
          <a:custGeom>
            <a:avLst/>
            <a:gdLst/>
            <a:ahLst/>
            <a:cxnLst/>
            <a:rect l="l" t="t" r="r" b="b"/>
            <a:pathLst>
              <a:path w="2527300" h="2074863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25700" y="0"/>
                </a:lnTo>
                <a:arcTo hR="101600" wR="101600" stAng="16200000" swAng="5400000"/>
                <a:lnTo>
                  <a:pt x="25273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E0702A"/>
          </a:solidFill>
          <a:ln/>
        </p:spPr>
      </p:sp>
      <p:sp>
        <p:nvSpPr>
          <p:cNvPr id="21" name="Text 19"/>
          <p:cNvSpPr/>
          <p:nvPr/>
        </p:nvSpPr>
        <p:spPr>
          <a:xfrm>
            <a:off x="9055100" y="2148780"/>
            <a:ext cx="218452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055100" y="2524621"/>
            <a:ext cx="218452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Mettre en production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55100" y="2875062"/>
            <a:ext cx="2184527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feu vert final. Ensuite merge, tag, CI, release et communication sans intervention.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800" y="4261743"/>
            <a:ext cx="981075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Tout le reste est automatique mais tracé : chaque ordre et chaque rapport sont des fichiers dans le dépôt, chaque transition est un label GitHub, chaque livraison un commit. Vous pouvez relire après coup.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80"/>
            <a:ext cx="24519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Code · template projet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1454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0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LE CYCLE DE DÉVELOPPEMENT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teamleader est votre seul interlocuteur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9150" y="1982391"/>
            <a:ext cx="1892300" cy="1597521"/>
          </a:xfrm>
          <a:prstGeom prst="roundRect">
            <a:avLst>
              <a:gd name="adj" fmla="val 5962"/>
            </a:avLst>
          </a:prstGeom>
          <a:solidFill>
            <a:srgbClr val="FDFCFA"/>
          </a:solidFill>
          <a:ln w="12700">
            <a:solidFill>
              <a:srgbClr val="16213A"/>
            </a:solidFill>
            <a:prstDash val="solid"/>
          </a:ln>
        </p:spPr>
      </p:sp>
      <p:pic>
        <p:nvPicPr>
          <p:cNvPr id="5" name="Image 0" descr="User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87500" y="2191941"/>
            <a:ext cx="355600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90385" y="2623741"/>
            <a:ext cx="549831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Vous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03300" y="2943721"/>
            <a:ext cx="15240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Demandes, validations aux gates</a:t>
            </a:r>
            <a:endParaRPr lang="en-US" sz="1200" dirty="0"/>
          </a:p>
        </p:txBody>
      </p:sp>
      <p:pic>
        <p:nvPicPr>
          <p:cNvPr id="8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17800" y="2641402"/>
            <a:ext cx="609600" cy="2794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327400" y="1882080"/>
            <a:ext cx="2667000" cy="1798141"/>
          </a:xfrm>
          <a:prstGeom prst="roundRect">
            <a:avLst>
              <a:gd name="adj" fmla="val 5650"/>
            </a:avLst>
          </a:prstGeom>
          <a:solidFill>
            <a:srgbClr val="16213A"/>
          </a:solidFill>
          <a:ln/>
        </p:spPr>
      </p:sp>
      <p:pic>
        <p:nvPicPr>
          <p:cNvPr id="10" name="Image 2" descr="Sta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483100" y="2085280"/>
            <a:ext cx="355600" cy="355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992483" y="2517080"/>
            <a:ext cx="1336834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Teamleader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3496691" y="2837061"/>
            <a:ext cx="2328418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session principale. Dispatche, contrôle chaque livrable, tient l’état GitHub, reporte.</a:t>
            </a:r>
            <a:endParaRPr lang="en-US" sz="1200" dirty="0"/>
          </a:p>
        </p:txBody>
      </p:sp>
      <p:pic>
        <p:nvPicPr>
          <p:cNvPr id="13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94400" y="2641402"/>
            <a:ext cx="609600" cy="279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07175" y="2102346"/>
            <a:ext cx="1534517" cy="397470"/>
          </a:xfrm>
          <a:prstGeom prst="roundRect">
            <a:avLst>
              <a:gd name="adj" fmla="val 15177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  <p:txBody>
          <a:bodyPr wrap="square" lIns="61706" tIns="74406" rIns="61706" bIns="4900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planner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8224242" y="2102346"/>
            <a:ext cx="1534616" cy="397470"/>
          </a:xfrm>
          <a:prstGeom prst="roundRect">
            <a:avLst>
              <a:gd name="adj" fmla="val 15177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  <p:txBody>
          <a:bodyPr wrap="square" lIns="61706" tIns="74406" rIns="61706" bIns="4900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dev-backend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9841409" y="2102346"/>
            <a:ext cx="1534616" cy="397470"/>
          </a:xfrm>
          <a:prstGeom prst="roundRect">
            <a:avLst>
              <a:gd name="adj" fmla="val 15177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  <p:txBody>
          <a:bodyPr wrap="square" lIns="61706" tIns="74406" rIns="61706" bIns="4900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dev-frontend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6607175" y="2582366"/>
            <a:ext cx="1534517" cy="397470"/>
          </a:xfrm>
          <a:prstGeom prst="roundRect">
            <a:avLst>
              <a:gd name="adj" fmla="val 15177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  <p:txBody>
          <a:bodyPr wrap="square" lIns="61706" tIns="74406" rIns="61706" bIns="4900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test-writer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8224242" y="2582366"/>
            <a:ext cx="1534616" cy="397470"/>
          </a:xfrm>
          <a:prstGeom prst="roundRect">
            <a:avLst>
              <a:gd name="adj" fmla="val 15177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  <p:txBody>
          <a:bodyPr wrap="square" lIns="61706" tIns="74406" rIns="61706" bIns="4900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code-reviewer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9841409" y="2582366"/>
            <a:ext cx="1534616" cy="397470"/>
          </a:xfrm>
          <a:prstGeom prst="roundRect">
            <a:avLst>
              <a:gd name="adj" fmla="val 15177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  <p:txBody>
          <a:bodyPr wrap="square" lIns="61706" tIns="74406" rIns="61706" bIns="4900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qa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607175" y="3062387"/>
            <a:ext cx="1534517" cy="397470"/>
          </a:xfrm>
          <a:prstGeom prst="roundRect">
            <a:avLst>
              <a:gd name="adj" fmla="val 15177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  <p:txBody>
          <a:bodyPr wrap="square" lIns="61706" tIns="74406" rIns="61706" bIns="4900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infra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8224242" y="3062387"/>
            <a:ext cx="1534616" cy="397470"/>
          </a:xfrm>
          <a:prstGeom prst="roundRect">
            <a:avLst>
              <a:gd name="adj" fmla="val 15177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  <p:txBody>
          <a:bodyPr wrap="square" lIns="61706" tIns="74406" rIns="61706" bIns="4900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deployer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9841409" y="3062387"/>
            <a:ext cx="1534616" cy="397470"/>
          </a:xfrm>
          <a:prstGeom prst="roundRect">
            <a:avLst>
              <a:gd name="adj" fmla="val 15177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  <p:txBody>
          <a:bodyPr wrap="square" lIns="61706" tIns="74406" rIns="61706" bIns="4900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doc, sécu…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12800" y="3997722"/>
            <a:ext cx="3403600" cy="0"/>
          </a:xfrm>
          <a:prstGeom prst="line">
            <a:avLst/>
          </a:prstGeom>
          <a:noFill/>
          <a:ln w="25400">
            <a:solidFill>
              <a:srgbClr val="2C8C99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812800" y="4137422"/>
            <a:ext cx="35057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Livrable = fichier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812800" y="4401542"/>
            <a:ext cx="350570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Rapports, handoffs ou SHA de commit. Le teamleader lit et vérifie avant de passer la main.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394200" y="3997722"/>
            <a:ext cx="3403600" cy="0"/>
          </a:xfrm>
          <a:prstGeom prst="line">
            <a:avLst/>
          </a:prstGeom>
          <a:noFill/>
          <a:ln w="25400">
            <a:solidFill>
              <a:srgbClr val="2C8C99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394200" y="4137422"/>
            <a:ext cx="35057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Questions = choix guidés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4394200" y="4401542"/>
            <a:ext cx="350570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Toute question vous arrive sous forme d’options, avec une valeur recommandée.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7975600" y="3997722"/>
            <a:ext cx="3403600" cy="0"/>
          </a:xfrm>
          <a:prstGeom prst="line">
            <a:avLst/>
          </a:prstGeom>
          <a:noFill/>
          <a:ln w="25400">
            <a:solidFill>
              <a:srgbClr val="2C8C99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975600" y="4137422"/>
            <a:ext cx="35057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Équipe persistante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7975600" y="4401542"/>
            <a:ext cx="350570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 agents sont lancés au début de session et restent disponibles jusqu’à la fin.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812800" y="6238280"/>
            <a:ext cx="24519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1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Code · template projet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112369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1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1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b="1" spc="150" kern="0" dirty="0">
                <a:solidFill>
                  <a:srgbClr val="E0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LE CYCLE DE DÉVELOPPEMENT</a:t>
            </a:r>
            <a:endParaRPr lang="en-US" sz="1159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94978"/>
            <a:ext cx="10883392" cy="48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23"/>
              </a:lnSpc>
              <a:buNone/>
            </a:pPr>
            <a:r>
              <a:rPr lang="en-US" sz="3294" b="1" i="0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Douze agents spécialisés, un rôle chacun</a:t>
            </a:r>
            <a:endParaRPr lang="en-US" sz="3294" dirty="0"/>
          </a:p>
        </p:txBody>
      </p:sp>
      <p:sp>
        <p:nvSpPr>
          <p:cNvPr id="4" name="Shape 2"/>
          <p:cNvSpPr/>
          <p:nvPr/>
        </p:nvSpPr>
        <p:spPr>
          <a:xfrm>
            <a:off x="815975" y="1810841"/>
            <a:ext cx="2540000" cy="1086247"/>
          </a:xfrm>
          <a:prstGeom prst="roundRect">
            <a:avLst>
              <a:gd name="adj" fmla="val 6723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1966416"/>
            <a:ext cx="2243392" cy="2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225" b="1" dirty="0">
                <a:solidFill>
                  <a:srgbClr val="2C8C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planner</a:t>
            </a:r>
            <a:endParaRPr lang="en-US" sz="1225" dirty="0"/>
          </a:p>
        </p:txBody>
      </p:sp>
      <p:sp>
        <p:nvSpPr>
          <p:cNvPr id="6" name="Text 4"/>
          <p:cNvSpPr/>
          <p:nvPr/>
        </p:nvSpPr>
        <p:spPr>
          <a:xfrm>
            <a:off x="996950" y="2203252"/>
            <a:ext cx="2243392" cy="563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5"/>
              </a:lnSpc>
              <a:buNone/>
            </a:pPr>
            <a:r>
              <a:rPr lang="en-US" sz="1196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d’implémentation, contrats API, découpage en lots</a:t>
            </a:r>
            <a:endParaRPr lang="en-US" sz="1196" dirty="0"/>
          </a:p>
        </p:txBody>
      </p:sp>
      <p:sp>
        <p:nvSpPr>
          <p:cNvPr id="7" name="Shape 5"/>
          <p:cNvSpPr/>
          <p:nvPr/>
        </p:nvSpPr>
        <p:spPr>
          <a:xfrm>
            <a:off x="3489325" y="1810841"/>
            <a:ext cx="2540000" cy="1086247"/>
          </a:xfrm>
          <a:prstGeom prst="roundRect">
            <a:avLst>
              <a:gd name="adj" fmla="val 6723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70300" y="1966416"/>
            <a:ext cx="224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C8C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dev-backend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70300" y="2230537"/>
            <a:ext cx="2243392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Développement backend, stack détectée à l’init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62675" y="1810841"/>
            <a:ext cx="2540000" cy="1086247"/>
          </a:xfrm>
          <a:prstGeom prst="roundRect">
            <a:avLst>
              <a:gd name="adj" fmla="val 6723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3650" y="1966416"/>
            <a:ext cx="224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C8C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dev-frontend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43650" y="2230537"/>
            <a:ext cx="2243392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Développement frontend, en parallèle du backend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36025" y="1810841"/>
            <a:ext cx="2540000" cy="1086247"/>
          </a:xfrm>
          <a:prstGeom prst="roundRect">
            <a:avLst>
              <a:gd name="adj" fmla="val 6723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17000" y="1966416"/>
            <a:ext cx="224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C8C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test-writer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17000" y="2230537"/>
            <a:ext cx="2243392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Tests écrits depuis le plan, en parallèle du dev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5975" y="3030438"/>
            <a:ext cx="2540000" cy="986631"/>
          </a:xfrm>
          <a:prstGeom prst="roundRect">
            <a:avLst>
              <a:gd name="adj" fmla="val 7401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950" y="3186013"/>
            <a:ext cx="224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C8C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code-reviewer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96950" y="3450134"/>
            <a:ext cx="2243392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Qualité, sécurité OWASP, couverture des contrats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89325" y="3030438"/>
            <a:ext cx="2540000" cy="986631"/>
          </a:xfrm>
          <a:prstGeom prst="roundRect">
            <a:avLst>
              <a:gd name="adj" fmla="val 7401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70300" y="3186013"/>
            <a:ext cx="224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C8C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qa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70300" y="3450134"/>
            <a:ext cx="2243392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Exécute les tests et les procédures de validation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62675" y="3030438"/>
            <a:ext cx="2540000" cy="986631"/>
          </a:xfrm>
          <a:prstGeom prst="roundRect">
            <a:avLst>
              <a:gd name="adj" fmla="val 7401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3650" y="3186013"/>
            <a:ext cx="224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C8C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infra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43650" y="3450134"/>
            <a:ext cx="2243392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Pipeline CI/CD de release, Docker, Helm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836025" y="3030438"/>
            <a:ext cx="2540000" cy="986631"/>
          </a:xfrm>
          <a:prstGeom prst="roundRect">
            <a:avLst>
              <a:gd name="adj" fmla="val 7401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17000" y="3186013"/>
            <a:ext cx="224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C8C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deployer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017000" y="3450134"/>
            <a:ext cx="2243392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Build, publication, déploiement QUALIF et PROD, rollback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5975" y="4150420"/>
            <a:ext cx="2540000" cy="986631"/>
          </a:xfrm>
          <a:prstGeom prst="roundRect">
            <a:avLst>
              <a:gd name="adj" fmla="val 7401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6950" y="4305995"/>
            <a:ext cx="224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C8C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doc-updater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96950" y="4570115"/>
            <a:ext cx="2243392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CHANGELOG, README, release notes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89325" y="4150420"/>
            <a:ext cx="2540000" cy="986631"/>
          </a:xfrm>
          <a:prstGeom prst="roundRect">
            <a:avLst>
              <a:gd name="adj" fmla="val 7401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70300" y="4305995"/>
            <a:ext cx="224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C8C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security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670300" y="4570115"/>
            <a:ext cx="2243392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Audit SAST, dépendances vulnérables, secrets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62675" y="4150420"/>
            <a:ext cx="2540000" cy="986631"/>
          </a:xfrm>
          <a:prstGeom prst="roundRect">
            <a:avLst>
              <a:gd name="adj" fmla="val 7401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43650" y="4305995"/>
            <a:ext cx="224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C8C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pr-reviewer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343650" y="4570115"/>
            <a:ext cx="2243392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des pull requests externes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836025" y="4150420"/>
            <a:ext cx="2540000" cy="986631"/>
          </a:xfrm>
          <a:prstGeom prst="roundRect">
            <a:avLst>
              <a:gd name="adj" fmla="val 7401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17000" y="4305995"/>
            <a:ext cx="224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C8C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marketing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017000" y="4570115"/>
            <a:ext cx="2243392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Communication de release depuis les données GitHub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12800" y="5394226"/>
            <a:ext cx="10883392" cy="473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86"/>
              </a:lnSpc>
              <a:buNone/>
            </a:pPr>
            <a:r>
              <a:rPr lang="en-US" sz="1276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Chaque agent a son modèle et son niveau d’effort : le planner et le teamleader en Fable, l’infra en Opus, l’exécution en Sonnet, la documentation en Haiku. Des agents génériques existent aussi pour les projets non-dev.</a:t>
            </a:r>
            <a:endParaRPr lang="en-US" sz="1276" dirty="0"/>
          </a:p>
        </p:txBody>
      </p:sp>
      <p:sp>
        <p:nvSpPr>
          <p:cNvPr id="41" name="Text 39"/>
          <p:cNvSpPr/>
          <p:nvPr/>
        </p:nvSpPr>
        <p:spPr>
          <a:xfrm>
            <a:off x="812800" y="6238280"/>
            <a:ext cx="24519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1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Code · template projet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12369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1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195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79" b="1" spc="150" kern="0" dirty="0">
                <a:solidFill>
                  <a:srgbClr val="E0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TEST-DRIVEN, DE BOUT EN BOUT</a:t>
            </a:r>
            <a:endParaRPr lang="en-US" sz="979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58962"/>
            <a:ext cx="11379200" cy="782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48"/>
              </a:lnSpc>
              <a:buNone/>
            </a:pPr>
            <a:r>
              <a:rPr lang="en-US" sz="3134" b="1" i="0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 tests sont écrits avant le code, et ils ne changent plus</a:t>
            </a:r>
            <a:endParaRPr lang="en-US" sz="3134" dirty="0"/>
          </a:p>
        </p:txBody>
      </p:sp>
      <p:sp>
        <p:nvSpPr>
          <p:cNvPr id="4" name="Shape 2"/>
          <p:cNvSpPr/>
          <p:nvPr/>
        </p:nvSpPr>
        <p:spPr>
          <a:xfrm>
            <a:off x="812800" y="2069604"/>
            <a:ext cx="1808460" cy="1073348"/>
          </a:xfrm>
          <a:prstGeom prst="roundRect">
            <a:avLst>
              <a:gd name="adj" fmla="val 7099"/>
            </a:avLst>
          </a:prstGeom>
          <a:solidFill>
            <a:srgbClr val="1E2B4A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2069604"/>
            <a:ext cx="1808460" cy="1073348"/>
          </a:xfrm>
          <a:custGeom>
            <a:avLst/>
            <a:gdLst/>
            <a:ahLst/>
            <a:cxnLst/>
            <a:rect l="l" t="t" r="r" b="b"/>
            <a:pathLst>
              <a:path w="1808460" h="1073348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732260" y="0"/>
                </a:lnTo>
                <a:arcTo hR="76200" wR="76200" stAng="16200000" swAng="5400000"/>
                <a:lnTo>
                  <a:pt x="1808460" y="76200"/>
                </a:lnTo>
                <a:arcTo hR="44450" wR="76200" stAng="0" swAng="-5400000"/>
                <a:lnTo>
                  <a:pt x="76200" y="31750"/>
                </a:lnTo>
                <a:arcTo hR="44450" wR="76200" stAng="16200000" swAng="-5400000"/>
                <a:close/>
              </a:path>
            </a:pathLst>
          </a:custGeom>
          <a:solidFill>
            <a:srgbClr val="2C8C99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228354"/>
            <a:ext cx="1579860" cy="209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2"/>
              </a:lnSpc>
              <a:buNone/>
            </a:pPr>
            <a:r>
              <a:rPr lang="en-US" sz="1227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+ contrats</a:t>
            </a:r>
            <a:endParaRPr lang="en-US" sz="1227" dirty="0"/>
          </a:p>
        </p:txBody>
      </p:sp>
      <p:sp>
        <p:nvSpPr>
          <p:cNvPr id="7" name="Text 5"/>
          <p:cNvSpPr/>
          <p:nvPr/>
        </p:nvSpPr>
        <p:spPr>
          <a:xfrm>
            <a:off x="952500" y="2463403"/>
            <a:ext cx="1579860" cy="5779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58"/>
              </a:lnSpc>
              <a:buNone/>
            </a:pPr>
            <a:r>
              <a:rPr lang="en-US" sz="1121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planner fixe les contrats API avant tout code</a:t>
            </a:r>
            <a:endParaRPr lang="en-US" sz="1121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97460" y="2549128"/>
            <a:ext cx="228600" cy="1143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02260" y="2069604"/>
            <a:ext cx="1808559" cy="1073348"/>
          </a:xfrm>
          <a:prstGeom prst="roundRect">
            <a:avLst>
              <a:gd name="adj" fmla="val 7099"/>
            </a:avLst>
          </a:prstGeom>
          <a:solidFill>
            <a:srgbClr val="E0702A"/>
          </a:solidFill>
          <a:ln/>
        </p:spPr>
      </p:sp>
      <p:sp>
        <p:nvSpPr>
          <p:cNvPr id="10" name="Text 7"/>
          <p:cNvSpPr/>
          <p:nvPr/>
        </p:nvSpPr>
        <p:spPr>
          <a:xfrm>
            <a:off x="3141960" y="2196604"/>
            <a:ext cx="1579959" cy="179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24"/>
              </a:lnSpc>
              <a:buNone/>
            </a:pPr>
            <a:r>
              <a:rPr lang="en-US" sz="102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Tests d’abord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3141960" y="2401094"/>
            <a:ext cx="1579959" cy="640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14"/>
              </a:lnSpc>
              <a:buNone/>
            </a:pPr>
            <a:r>
              <a:rPr lang="en-US" sz="934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test-writer écrit unit, intégration, E2E et procédures QA depuis les contrats</a:t>
            </a:r>
            <a:endParaRPr lang="en-US" sz="934" dirty="0"/>
          </a:p>
        </p:txBody>
      </p:sp>
      <p:pic>
        <p:nvPicPr>
          <p:cNvPr id="12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87020" y="2549128"/>
            <a:ext cx="228600" cy="1143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191820" y="2069604"/>
            <a:ext cx="1808460" cy="1073348"/>
          </a:xfrm>
          <a:prstGeom prst="roundRect">
            <a:avLst>
              <a:gd name="adj" fmla="val 7099"/>
            </a:avLst>
          </a:prstGeom>
          <a:solidFill>
            <a:srgbClr val="1E2B4A"/>
          </a:solidFill>
          <a:ln/>
        </p:spPr>
      </p:sp>
      <p:sp>
        <p:nvSpPr>
          <p:cNvPr id="14" name="Shape 10"/>
          <p:cNvSpPr/>
          <p:nvPr/>
        </p:nvSpPr>
        <p:spPr>
          <a:xfrm>
            <a:off x="5191820" y="2069604"/>
            <a:ext cx="1808460" cy="1073348"/>
          </a:xfrm>
          <a:custGeom>
            <a:avLst/>
            <a:gdLst/>
            <a:ahLst/>
            <a:cxnLst/>
            <a:rect l="l" t="t" r="r" b="b"/>
            <a:pathLst>
              <a:path w="1808460" h="1073348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732260" y="0"/>
                </a:lnTo>
                <a:arcTo hR="76200" wR="76200" stAng="16200000" swAng="5400000"/>
                <a:lnTo>
                  <a:pt x="1808460" y="76200"/>
                </a:lnTo>
                <a:arcTo hR="44450" wR="76200" stAng="0" swAng="-5400000"/>
                <a:lnTo>
                  <a:pt x="76200" y="31750"/>
                </a:lnTo>
                <a:arcTo hR="44450" wR="76200" stAng="16200000" swAng="-5400000"/>
                <a:close/>
              </a:path>
            </a:pathLst>
          </a:custGeom>
          <a:solidFill>
            <a:srgbClr val="2C8C99"/>
          </a:solidFill>
          <a:ln/>
        </p:spPr>
      </p:sp>
      <p:sp>
        <p:nvSpPr>
          <p:cNvPr id="15" name="Text 11"/>
          <p:cNvSpPr/>
          <p:nvPr/>
        </p:nvSpPr>
        <p:spPr>
          <a:xfrm>
            <a:off x="5331520" y="2228354"/>
            <a:ext cx="1668760" cy="32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7"/>
              </a:lnSpc>
              <a:buNone/>
            </a:pPr>
            <a:r>
              <a:rPr lang="en-US" sz="1231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 pour les passer</a:t>
            </a:r>
            <a:endParaRPr lang="en-US" sz="1231" dirty="0"/>
          </a:p>
        </p:txBody>
      </p:sp>
      <p:sp>
        <p:nvSpPr>
          <p:cNvPr id="16" name="Text 12"/>
          <p:cNvSpPr/>
          <p:nvPr/>
        </p:nvSpPr>
        <p:spPr>
          <a:xfrm>
            <a:off x="5331520" y="2573834"/>
            <a:ext cx="1579860" cy="467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dev implémente en parallèle, boucle rapide sur ses fichiers</a:t>
            </a:r>
            <a:endParaRPr lang="en-US" sz="900" dirty="0"/>
          </a:p>
        </p:txBody>
      </p:sp>
      <p:pic>
        <p:nvPicPr>
          <p:cNvPr id="17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76480" y="2549128"/>
            <a:ext cx="228600" cy="1143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7381280" y="2069604"/>
            <a:ext cx="1808460" cy="1073348"/>
          </a:xfrm>
          <a:prstGeom prst="roundRect">
            <a:avLst>
              <a:gd name="adj" fmla="val 7099"/>
            </a:avLst>
          </a:prstGeom>
          <a:solidFill>
            <a:srgbClr val="1E2B4A"/>
          </a:solidFill>
          <a:ln/>
        </p:spPr>
      </p:sp>
      <p:sp>
        <p:nvSpPr>
          <p:cNvPr id="19" name="Shape 14"/>
          <p:cNvSpPr/>
          <p:nvPr/>
        </p:nvSpPr>
        <p:spPr>
          <a:xfrm>
            <a:off x="7381280" y="2069604"/>
            <a:ext cx="1808460" cy="1073348"/>
          </a:xfrm>
          <a:custGeom>
            <a:avLst/>
            <a:gdLst/>
            <a:ahLst/>
            <a:cxnLst/>
            <a:rect l="l" t="t" r="r" b="b"/>
            <a:pathLst>
              <a:path w="1808460" h="1073348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732260" y="0"/>
                </a:lnTo>
                <a:arcTo hR="76200" wR="76200" stAng="16200000" swAng="5400000"/>
                <a:lnTo>
                  <a:pt x="1808460" y="76200"/>
                </a:lnTo>
                <a:arcTo hR="44450" wR="76200" stAng="0" swAng="-5400000"/>
                <a:lnTo>
                  <a:pt x="76200" y="31750"/>
                </a:lnTo>
                <a:arcTo hR="44450" wR="76200" stAng="16200000" swAng="-5400000"/>
                <a:close/>
              </a:path>
            </a:pathLst>
          </a:custGeom>
          <a:solidFill>
            <a:srgbClr val="2C8C99"/>
          </a:solidFill>
          <a:ln/>
        </p:spPr>
      </p:sp>
      <p:sp>
        <p:nvSpPr>
          <p:cNvPr id="20" name="Text 15"/>
          <p:cNvSpPr/>
          <p:nvPr/>
        </p:nvSpPr>
        <p:spPr>
          <a:xfrm>
            <a:off x="7520980" y="2228354"/>
            <a:ext cx="1579860" cy="209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2"/>
              </a:lnSpc>
              <a:buNone/>
            </a:pPr>
            <a:r>
              <a:rPr lang="en-US" sz="1227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Couverture vérifiée</a:t>
            </a:r>
            <a:endParaRPr lang="en-US" sz="1227" dirty="0"/>
          </a:p>
        </p:txBody>
      </p:sp>
      <p:sp>
        <p:nvSpPr>
          <p:cNvPr id="21" name="Text 16"/>
          <p:cNvSpPr/>
          <p:nvPr/>
        </p:nvSpPr>
        <p:spPr>
          <a:xfrm>
            <a:off x="7520980" y="2463403"/>
            <a:ext cx="1579860" cy="5779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58"/>
              </a:lnSpc>
              <a:buNone/>
            </a:pPr>
            <a:r>
              <a:rPr lang="en-US" sz="1121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reviewer contrôle que chaque contrat a ses tests</a:t>
            </a:r>
            <a:endParaRPr lang="en-US" sz="1121" dirty="0"/>
          </a:p>
        </p:txBody>
      </p:sp>
      <p:pic>
        <p:nvPicPr>
          <p:cNvPr id="22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65940" y="2549128"/>
            <a:ext cx="228600" cy="1143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9570740" y="2069604"/>
            <a:ext cx="1808460" cy="1073348"/>
          </a:xfrm>
          <a:prstGeom prst="roundRect">
            <a:avLst>
              <a:gd name="adj" fmla="val 7099"/>
            </a:avLst>
          </a:prstGeom>
          <a:solidFill>
            <a:srgbClr val="1E2B4A"/>
          </a:solidFill>
          <a:ln/>
        </p:spPr>
      </p:sp>
      <p:sp>
        <p:nvSpPr>
          <p:cNvPr id="24" name="Shape 18"/>
          <p:cNvSpPr/>
          <p:nvPr/>
        </p:nvSpPr>
        <p:spPr>
          <a:xfrm>
            <a:off x="9570740" y="2069604"/>
            <a:ext cx="1808460" cy="1073348"/>
          </a:xfrm>
          <a:custGeom>
            <a:avLst/>
            <a:gdLst/>
            <a:ahLst/>
            <a:cxnLst/>
            <a:rect l="l" t="t" r="r" b="b"/>
            <a:pathLst>
              <a:path w="1808460" h="1073348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732260" y="0"/>
                </a:lnTo>
                <a:arcTo hR="76200" wR="76200" stAng="16200000" swAng="5400000"/>
                <a:lnTo>
                  <a:pt x="1808460" y="76200"/>
                </a:lnTo>
                <a:arcTo hR="44450" wR="76200" stAng="0" swAng="-5400000"/>
                <a:lnTo>
                  <a:pt x="76200" y="31750"/>
                </a:lnTo>
                <a:arcTo hR="44450" wR="76200" stAng="16200000" swAng="-5400000"/>
                <a:close/>
              </a:path>
            </a:pathLst>
          </a:custGeom>
          <a:solidFill>
            <a:srgbClr val="2C8C99"/>
          </a:solidFill>
          <a:ln/>
        </p:spPr>
      </p:sp>
      <p:sp>
        <p:nvSpPr>
          <p:cNvPr id="25" name="Text 19"/>
          <p:cNvSpPr/>
          <p:nvPr/>
        </p:nvSpPr>
        <p:spPr>
          <a:xfrm>
            <a:off x="9710440" y="2228354"/>
            <a:ext cx="1668760" cy="32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211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QA sur code commité</a:t>
            </a:r>
            <a:endParaRPr lang="en-US" sz="1211" dirty="0"/>
          </a:p>
        </p:txBody>
      </p:sp>
      <p:sp>
        <p:nvSpPr>
          <p:cNvPr id="26" name="Text 20"/>
          <p:cNvSpPr/>
          <p:nvPr/>
        </p:nvSpPr>
        <p:spPr>
          <a:xfrm>
            <a:off x="9710440" y="2573834"/>
            <a:ext cx="1579860" cy="467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2"/>
              </a:lnSpc>
              <a:buNone/>
            </a:pPr>
            <a:r>
              <a:rPr lang="en-US" sz="1148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Suite feature, puis non-régression, lot par lot</a:t>
            </a:r>
            <a:endParaRPr lang="en-US" sz="1148" dirty="0"/>
          </a:p>
        </p:txBody>
      </p:sp>
      <p:sp>
        <p:nvSpPr>
          <p:cNvPr id="27" name="Shape 21"/>
          <p:cNvSpPr/>
          <p:nvPr/>
        </p:nvSpPr>
        <p:spPr>
          <a:xfrm>
            <a:off x="812800" y="3396952"/>
            <a:ext cx="3420467" cy="1146274"/>
          </a:xfrm>
          <a:prstGeom prst="roundRect">
            <a:avLst>
              <a:gd name="adj" fmla="val 6648"/>
            </a:avLst>
          </a:prstGeom>
          <a:solidFill>
            <a:srgbClr val="1E2B4A"/>
          </a:solidFill>
          <a:ln/>
        </p:spPr>
      </p:sp>
      <p:sp>
        <p:nvSpPr>
          <p:cNvPr id="28" name="Text 22"/>
          <p:cNvSpPr/>
          <p:nvPr/>
        </p:nvSpPr>
        <p:spPr>
          <a:xfrm>
            <a:off x="990600" y="3549352"/>
            <a:ext cx="31568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1059" b="1" dirty="0">
                <a:solidFill>
                  <a:srgbClr val="F2B9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Tests immuables</a:t>
            </a:r>
            <a:endParaRPr lang="en-US" sz="1059" dirty="0"/>
          </a:p>
        </p:txBody>
      </p:sp>
      <p:sp>
        <p:nvSpPr>
          <p:cNvPr id="29" name="Text 23"/>
          <p:cNvSpPr/>
          <p:nvPr/>
        </p:nvSpPr>
        <p:spPr>
          <a:xfrm>
            <a:off x="990600" y="3768427"/>
            <a:ext cx="3156813" cy="647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49"/>
              </a:lnSpc>
              <a:buNone/>
            </a:pPr>
            <a:r>
              <a:rPr lang="en-US" sz="964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test existant ne se modifie que sur un changement de contrat documenté dans contracts/CHANGELOG.md. Jamais pour « faire passer » le code.</a:t>
            </a:r>
            <a:endParaRPr lang="en-US" sz="964" dirty="0"/>
          </a:p>
        </p:txBody>
      </p:sp>
      <p:sp>
        <p:nvSpPr>
          <p:cNvPr id="30" name="Shape 24"/>
          <p:cNvSpPr/>
          <p:nvPr/>
        </p:nvSpPr>
        <p:spPr>
          <a:xfrm>
            <a:off x="4385667" y="3396952"/>
            <a:ext cx="3420566" cy="1146274"/>
          </a:xfrm>
          <a:prstGeom prst="roundRect">
            <a:avLst>
              <a:gd name="adj" fmla="val 6648"/>
            </a:avLst>
          </a:prstGeom>
          <a:solidFill>
            <a:srgbClr val="1E2B4A"/>
          </a:solidFill>
          <a:ln/>
        </p:spPr>
      </p:sp>
      <p:sp>
        <p:nvSpPr>
          <p:cNvPr id="31" name="Text 25"/>
          <p:cNvSpPr/>
          <p:nvPr/>
        </p:nvSpPr>
        <p:spPr>
          <a:xfrm>
            <a:off x="4563467" y="3549352"/>
            <a:ext cx="3156915" cy="219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308" b="1" dirty="0">
                <a:solidFill>
                  <a:srgbClr val="F2B9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Bugfix : rouge puis vert</a:t>
            </a:r>
            <a:endParaRPr lang="en-US" sz="1308" dirty="0"/>
          </a:p>
        </p:txBody>
      </p:sp>
      <p:sp>
        <p:nvSpPr>
          <p:cNvPr id="32" name="Text 26"/>
          <p:cNvSpPr/>
          <p:nvPr/>
        </p:nvSpPr>
        <p:spPr>
          <a:xfrm>
            <a:off x="4563467" y="3807321"/>
            <a:ext cx="3156915" cy="608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8"/>
              </a:lnSpc>
              <a:buNone/>
            </a:pPr>
            <a:r>
              <a:rPr lang="en-US" sz="1099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test de reproduction est écrit avant la correction et vérifié en échec sur le code non corrigé. Il rejoint ensuite la non-régression.</a:t>
            </a:r>
            <a:endParaRPr lang="en-US" sz="1099" dirty="0"/>
          </a:p>
        </p:txBody>
      </p:sp>
      <p:sp>
        <p:nvSpPr>
          <p:cNvPr id="33" name="Shape 27"/>
          <p:cNvSpPr/>
          <p:nvPr/>
        </p:nvSpPr>
        <p:spPr>
          <a:xfrm>
            <a:off x="7958634" y="3396952"/>
            <a:ext cx="3420566" cy="1146274"/>
          </a:xfrm>
          <a:prstGeom prst="roundRect">
            <a:avLst>
              <a:gd name="adj" fmla="val 6648"/>
            </a:avLst>
          </a:prstGeom>
          <a:solidFill>
            <a:srgbClr val="1E2B4A"/>
          </a:solidFill>
          <a:ln/>
        </p:spPr>
      </p:sp>
      <p:sp>
        <p:nvSpPr>
          <p:cNvPr id="34" name="Text 28"/>
          <p:cNvSpPr/>
          <p:nvPr/>
        </p:nvSpPr>
        <p:spPr>
          <a:xfrm>
            <a:off x="8136434" y="3549352"/>
            <a:ext cx="315691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1059" b="1" dirty="0">
                <a:solidFill>
                  <a:srgbClr val="F2B9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Non-régression avant la prod</a:t>
            </a:r>
            <a:endParaRPr lang="en-US" sz="1059" dirty="0"/>
          </a:p>
        </p:txBody>
      </p:sp>
      <p:sp>
        <p:nvSpPr>
          <p:cNvPr id="35" name="Text 29"/>
          <p:cNvSpPr/>
          <p:nvPr/>
        </p:nvSpPr>
        <p:spPr>
          <a:xfrm>
            <a:off x="8136434" y="3768427"/>
            <a:ext cx="3156915" cy="647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38"/>
              </a:lnSpc>
              <a:buNone/>
            </a:pPr>
            <a:r>
              <a:rPr lang="en-US" sz="1170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Suite complète jouée en QUALIF. Le GATE 4 ne s’ouvre qu’une fois la non-régression validée ; un échec renvoie en développement.</a:t>
            </a:r>
            <a:endParaRPr lang="en-US" sz="1170" dirty="0"/>
          </a:p>
        </p:txBody>
      </p:sp>
      <p:sp>
        <p:nvSpPr>
          <p:cNvPr id="36" name="Shape 30"/>
          <p:cNvSpPr/>
          <p:nvPr/>
        </p:nvSpPr>
        <p:spPr>
          <a:xfrm>
            <a:off x="812800" y="4695627"/>
            <a:ext cx="3420467" cy="1146373"/>
          </a:xfrm>
          <a:prstGeom prst="roundRect">
            <a:avLst>
              <a:gd name="adj" fmla="val 6647"/>
            </a:avLst>
          </a:prstGeom>
          <a:solidFill>
            <a:srgbClr val="1E2B4A"/>
          </a:solidFill>
          <a:ln/>
        </p:spPr>
      </p:sp>
      <p:sp>
        <p:nvSpPr>
          <p:cNvPr id="37" name="Text 31"/>
          <p:cNvSpPr/>
          <p:nvPr/>
        </p:nvSpPr>
        <p:spPr>
          <a:xfrm>
            <a:off x="990600" y="4848027"/>
            <a:ext cx="3156813" cy="219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308" b="1" dirty="0">
                <a:solidFill>
                  <a:srgbClr val="F2B9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Une seule CI</a:t>
            </a:r>
            <a:endParaRPr lang="en-US" sz="1308" dirty="0"/>
          </a:p>
        </p:txBody>
      </p:sp>
      <p:sp>
        <p:nvSpPr>
          <p:cNvPr id="38" name="Text 32"/>
          <p:cNvSpPr/>
          <p:nvPr/>
        </p:nvSpPr>
        <p:spPr>
          <a:xfrm>
            <a:off x="990600" y="5106095"/>
            <a:ext cx="3156813" cy="608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8"/>
              </a:lnSpc>
              <a:buNone/>
            </a:pPr>
            <a:r>
              <a:rPr lang="en-US" sz="1099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même script tourne en local, en QA et dans le workflow. Pas de merge ni de tag tant qu’il n’est pas vert sur le SHA exact.</a:t>
            </a:r>
            <a:endParaRPr lang="en-US" sz="1099" dirty="0"/>
          </a:p>
        </p:txBody>
      </p:sp>
      <p:sp>
        <p:nvSpPr>
          <p:cNvPr id="39" name="Shape 33"/>
          <p:cNvSpPr/>
          <p:nvPr/>
        </p:nvSpPr>
        <p:spPr>
          <a:xfrm>
            <a:off x="4385667" y="4695627"/>
            <a:ext cx="3420566" cy="1146373"/>
          </a:xfrm>
          <a:prstGeom prst="roundRect">
            <a:avLst>
              <a:gd name="adj" fmla="val 6647"/>
            </a:avLst>
          </a:prstGeom>
          <a:solidFill>
            <a:srgbClr val="1E2B4A"/>
          </a:solidFill>
          <a:ln/>
        </p:spPr>
      </p:sp>
      <p:sp>
        <p:nvSpPr>
          <p:cNvPr id="40" name="Text 34"/>
          <p:cNvSpPr/>
          <p:nvPr/>
        </p:nvSpPr>
        <p:spPr>
          <a:xfrm>
            <a:off x="4563467" y="4848027"/>
            <a:ext cx="315691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1059" b="1" dirty="0">
                <a:solidFill>
                  <a:srgbClr val="F2B9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Échecs classés</a:t>
            </a:r>
            <a:endParaRPr lang="en-US" sz="1059" dirty="0"/>
          </a:p>
        </p:txBody>
      </p:sp>
      <p:sp>
        <p:nvSpPr>
          <p:cNvPr id="41" name="Text 35"/>
          <p:cNvSpPr/>
          <p:nvPr/>
        </p:nvSpPr>
        <p:spPr>
          <a:xfrm>
            <a:off x="4563467" y="5067102"/>
            <a:ext cx="3156915" cy="647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Feature, régression, environnement ou flaky : une relance au plus, puis quarantaine avec issue. Chaque verdict est consigné dans tests/METRICS.md.</a:t>
            </a:r>
            <a:endParaRPr lang="en-US" sz="1020" dirty="0"/>
          </a:p>
        </p:txBody>
      </p:sp>
      <p:sp>
        <p:nvSpPr>
          <p:cNvPr id="42" name="Shape 36"/>
          <p:cNvSpPr/>
          <p:nvPr/>
        </p:nvSpPr>
        <p:spPr>
          <a:xfrm>
            <a:off x="7958634" y="4695627"/>
            <a:ext cx="3420566" cy="1146373"/>
          </a:xfrm>
          <a:prstGeom prst="roundRect">
            <a:avLst>
              <a:gd name="adj" fmla="val 6647"/>
            </a:avLst>
          </a:prstGeom>
          <a:solidFill>
            <a:srgbClr val="1E2B4A"/>
          </a:solidFill>
          <a:ln/>
        </p:spPr>
      </p:sp>
      <p:sp>
        <p:nvSpPr>
          <p:cNvPr id="43" name="Text 37"/>
          <p:cNvSpPr/>
          <p:nvPr/>
        </p:nvSpPr>
        <p:spPr>
          <a:xfrm>
            <a:off x="8136434" y="4848027"/>
            <a:ext cx="3156915" cy="219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308" b="1" dirty="0">
                <a:solidFill>
                  <a:srgbClr val="F2B9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Refactor sous contrôle</a:t>
            </a:r>
            <a:endParaRPr lang="en-US" sz="1308" dirty="0"/>
          </a:p>
        </p:txBody>
      </p:sp>
      <p:sp>
        <p:nvSpPr>
          <p:cNvPr id="44" name="Text 38"/>
          <p:cNvSpPr/>
          <p:nvPr/>
        </p:nvSpPr>
        <p:spPr>
          <a:xfrm>
            <a:off x="8136434" y="5106095"/>
            <a:ext cx="3156915" cy="608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QA jouée avant et après : un refactor qui change un comportement observable est refusé.</a:t>
            </a:r>
            <a:endParaRPr lang="en-US" sz="1125" dirty="0"/>
          </a:p>
        </p:txBody>
      </p:sp>
      <p:sp>
        <p:nvSpPr>
          <p:cNvPr id="45" name="Text 39"/>
          <p:cNvSpPr/>
          <p:nvPr/>
        </p:nvSpPr>
        <p:spPr>
          <a:xfrm>
            <a:off x="812800" y="6238280"/>
            <a:ext cx="24519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Code · template projet</a:t>
            </a:r>
            <a:endParaRPr lang="en-US" sz="1200" dirty="0"/>
          </a:p>
        </p:txBody>
      </p:sp>
      <p:sp>
        <p:nvSpPr>
          <p:cNvPr id="46" name="Text 40"/>
          <p:cNvSpPr/>
          <p:nvPr/>
        </p:nvSpPr>
        <p:spPr>
          <a:xfrm>
            <a:off x="111454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190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b="1" spc="150" kern="0" dirty="0">
                <a:solidFill>
                  <a:srgbClr val="E0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LES TEMPLATES</a:t>
            </a:r>
            <a:endParaRPr lang="en-US" sz="945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54001"/>
            <a:ext cx="10883392" cy="760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10"/>
              </a:lnSpc>
              <a:buNone/>
            </a:pPr>
            <a:r>
              <a:rPr lang="en-US" sz="2646" b="1" i="0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template, c’est l’équipe et ses règles, prêtes à l’emploi dans chaque projet</a:t>
            </a:r>
            <a:endParaRPr lang="en-US" sz="2646" dirty="0"/>
          </a:p>
        </p:txBody>
      </p:sp>
      <p:sp>
        <p:nvSpPr>
          <p:cNvPr id="4" name="Shape 2"/>
          <p:cNvSpPr/>
          <p:nvPr/>
        </p:nvSpPr>
        <p:spPr>
          <a:xfrm>
            <a:off x="815975" y="2046089"/>
            <a:ext cx="3414117" cy="1355626"/>
          </a:xfrm>
          <a:prstGeom prst="roundRect">
            <a:avLst>
              <a:gd name="adj" fmla="val 5387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pic>
        <p:nvPicPr>
          <p:cNvPr id="5" name="Image 0" descr="Play">    </p:cNvPr>
          <p:cNvPicPr>
            <a:picLocks noChangeAspect="1"/>
          </p:cNvPicPr>
          <p:nvPr/>
        </p:nvPicPr>
        <p:blipFill>
          <a:blip r:embed="rId1"/>
          <a:srcRect l="-26" r="-26" t="0" b="0"/>
          <a:stretch/>
        </p:blipFill>
        <p:spPr>
          <a:xfrm>
            <a:off x="1022350" y="2227064"/>
            <a:ext cx="254000" cy="1904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2350" y="2493665"/>
            <a:ext cx="3091408" cy="196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73"/>
              </a:lnSpc>
              <a:buNone/>
            </a:pPr>
            <a:r>
              <a:rPr lang="en-US" sz="1144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Commandes</a:t>
            </a:r>
            <a:endParaRPr lang="en-US" sz="1144" dirty="0"/>
          </a:p>
        </p:txBody>
      </p:sp>
      <p:sp>
        <p:nvSpPr>
          <p:cNvPr id="7" name="Text 4"/>
          <p:cNvSpPr/>
          <p:nvPr/>
        </p:nvSpPr>
        <p:spPr>
          <a:xfrm>
            <a:off x="1022350" y="2741216"/>
            <a:ext cx="3091408" cy="504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18"/>
              </a:lnSpc>
              <a:buNone/>
            </a:pPr>
            <a:r>
              <a:rPr lang="en-US" sz="941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/feature, /bugfix, /hotfix, /refactor, /milestone, /backlog, /deploy, /review, /qa, /secu, /marketing, sessions</a:t>
            </a:r>
            <a:endParaRPr lang="en-US" sz="941" dirty="0"/>
          </a:p>
        </p:txBody>
      </p:sp>
      <p:sp>
        <p:nvSpPr>
          <p:cNvPr id="8" name="Shape 5"/>
          <p:cNvSpPr/>
          <p:nvPr/>
        </p:nvSpPr>
        <p:spPr>
          <a:xfrm>
            <a:off x="4388842" y="2046089"/>
            <a:ext cx="3414216" cy="1355626"/>
          </a:xfrm>
          <a:prstGeom prst="roundRect">
            <a:avLst>
              <a:gd name="adj" fmla="val 5387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pic>
        <p:nvPicPr>
          <p:cNvPr id="9" name="Image 1" descr="Users">    </p:cNvPr>
          <p:cNvPicPr>
            <a:picLocks noChangeAspect="1"/>
          </p:cNvPicPr>
          <p:nvPr/>
        </p:nvPicPr>
        <p:blipFill>
          <a:blip r:embed="rId2"/>
          <a:srcRect l="-26" r="-26" t="0" b="0"/>
          <a:stretch/>
        </p:blipFill>
        <p:spPr>
          <a:xfrm>
            <a:off x="4595217" y="2227064"/>
            <a:ext cx="254000" cy="19040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5217" y="2493665"/>
            <a:ext cx="3091510" cy="196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73"/>
              </a:lnSpc>
              <a:buNone/>
            </a:pPr>
            <a:r>
              <a:rPr lang="en-US" sz="1144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Agents</a:t>
            </a:r>
            <a:endParaRPr lang="en-US" sz="1144" dirty="0"/>
          </a:p>
        </p:txBody>
      </p:sp>
      <p:sp>
        <p:nvSpPr>
          <p:cNvPr id="11" name="Text 7"/>
          <p:cNvSpPr/>
          <p:nvPr/>
        </p:nvSpPr>
        <p:spPr>
          <a:xfrm>
            <a:off x="4595217" y="2741216"/>
            <a:ext cx="3091510" cy="504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0"/>
              </a:lnSpc>
              <a:buNone/>
            </a:pPr>
            <a:r>
              <a:rPr lang="en-US" sz="907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Teamleader, planner, test-writer, reviewer, qa, infra, deployer, doc, security, marketing, modèle et effort fixés par agent</a:t>
            </a:r>
            <a:endParaRPr lang="en-US" sz="907" dirty="0"/>
          </a:p>
        </p:txBody>
      </p:sp>
      <p:sp>
        <p:nvSpPr>
          <p:cNvPr id="12" name="Shape 8"/>
          <p:cNvSpPr/>
          <p:nvPr/>
        </p:nvSpPr>
        <p:spPr>
          <a:xfrm>
            <a:off x="7961809" y="2046089"/>
            <a:ext cx="3414216" cy="1355626"/>
          </a:xfrm>
          <a:prstGeom prst="roundRect">
            <a:avLst>
              <a:gd name="adj" fmla="val 5387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pic>
        <p:nvPicPr>
          <p:cNvPr id="13" name="Image 2" descr="Book">    </p:cNvPr>
          <p:cNvPicPr>
            <a:picLocks noChangeAspect="1"/>
          </p:cNvPicPr>
          <p:nvPr/>
        </p:nvPicPr>
        <p:blipFill>
          <a:blip r:embed="rId3"/>
          <a:srcRect l="-26" r="-26" t="0" b="0"/>
          <a:stretch/>
        </p:blipFill>
        <p:spPr>
          <a:xfrm>
            <a:off x="8168184" y="2227064"/>
            <a:ext cx="254000" cy="19040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68184" y="2493665"/>
            <a:ext cx="3091510" cy="196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73"/>
              </a:lnSpc>
              <a:buNone/>
            </a:pPr>
            <a:r>
              <a:rPr lang="en-US" sz="1144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Contextes partagés</a:t>
            </a:r>
            <a:endParaRPr lang="en-US" sz="1144" dirty="0"/>
          </a:p>
        </p:txBody>
      </p:sp>
      <p:sp>
        <p:nvSpPr>
          <p:cNvPr id="15" name="Text 10"/>
          <p:cNvSpPr/>
          <p:nvPr/>
        </p:nvSpPr>
        <p:spPr>
          <a:xfrm>
            <a:off x="8168184" y="2741216"/>
            <a:ext cx="3091510" cy="504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7"/>
              </a:lnSpc>
              <a:buNone/>
            </a:pPr>
            <a:r>
              <a:rPr lang="en-US" sz="1084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Règles communes, intégration GitHub, protocole entre agents : écrits une fois, lus par tous</a:t>
            </a:r>
            <a:endParaRPr lang="en-US" sz="1084" dirty="0"/>
          </a:p>
        </p:txBody>
      </p:sp>
      <p:sp>
        <p:nvSpPr>
          <p:cNvPr id="16" name="Shape 11"/>
          <p:cNvSpPr/>
          <p:nvPr/>
        </p:nvSpPr>
        <p:spPr>
          <a:xfrm>
            <a:off x="815975" y="3560465"/>
            <a:ext cx="3414117" cy="1355626"/>
          </a:xfrm>
          <a:prstGeom prst="roundRect">
            <a:avLst>
              <a:gd name="adj" fmla="val 5387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pic>
        <p:nvPicPr>
          <p:cNvPr id="17" name="Image 3" descr="Code">    </p:cNvPr>
          <p:cNvPicPr>
            <a:picLocks noChangeAspect="1"/>
          </p:cNvPicPr>
          <p:nvPr/>
        </p:nvPicPr>
        <p:blipFill>
          <a:blip r:embed="rId4"/>
          <a:srcRect l="-26" r="-26" t="0" b="0"/>
          <a:stretch/>
        </p:blipFill>
        <p:spPr>
          <a:xfrm>
            <a:off x="1022350" y="3741440"/>
            <a:ext cx="254000" cy="19040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22350" y="4008041"/>
            <a:ext cx="3091408" cy="196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73"/>
              </a:lnSpc>
              <a:buNone/>
            </a:pPr>
            <a:r>
              <a:rPr lang="en-US" sz="1144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Templates de stack</a:t>
            </a:r>
            <a:endParaRPr lang="en-US" sz="1144" dirty="0"/>
          </a:p>
        </p:txBody>
      </p:sp>
      <p:sp>
        <p:nvSpPr>
          <p:cNvPr id="19" name="Text 13"/>
          <p:cNvSpPr/>
          <p:nvPr/>
        </p:nvSpPr>
        <p:spPr>
          <a:xfrm>
            <a:off x="1022350" y="4255591"/>
            <a:ext cx="3091408" cy="504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9"/>
              </a:lnSpc>
              <a:buNone/>
            </a:pPr>
            <a:r>
              <a:rPr lang="en-US" sz="956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Agents dev générés pour Go, Node, Python, React, Vue, ESP32 ; fiches publish et deploy par environnement</a:t>
            </a:r>
            <a:endParaRPr lang="en-US" sz="956" dirty="0"/>
          </a:p>
        </p:txBody>
      </p:sp>
      <p:sp>
        <p:nvSpPr>
          <p:cNvPr id="20" name="Shape 14"/>
          <p:cNvSpPr/>
          <p:nvPr/>
        </p:nvSpPr>
        <p:spPr>
          <a:xfrm>
            <a:off x="4388842" y="3560465"/>
            <a:ext cx="3414216" cy="1355626"/>
          </a:xfrm>
          <a:prstGeom prst="roundRect">
            <a:avLst>
              <a:gd name="adj" fmla="val 5387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pic>
        <p:nvPicPr>
          <p:cNvPr id="21" name="Image 4" descr="Settings">    </p:cNvPr>
          <p:cNvPicPr>
            <a:picLocks noChangeAspect="1"/>
          </p:cNvPicPr>
          <p:nvPr/>
        </p:nvPicPr>
        <p:blipFill>
          <a:blip r:embed="rId5"/>
          <a:srcRect l="0" r="0" t="-375" b="-375"/>
          <a:stretch/>
        </p:blipFill>
        <p:spPr>
          <a:xfrm>
            <a:off x="4595217" y="3741440"/>
            <a:ext cx="254000" cy="15994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595217" y="3977580"/>
            <a:ext cx="3091510" cy="169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CLAUDE.md et config</a:t>
            </a:r>
            <a:endParaRPr lang="en-US" sz="975" dirty="0"/>
          </a:p>
        </p:txBody>
      </p:sp>
      <p:sp>
        <p:nvSpPr>
          <p:cNvPr id="23" name="Text 16"/>
          <p:cNvSpPr/>
          <p:nvPr/>
        </p:nvSpPr>
        <p:spPr>
          <a:xfrm>
            <a:off x="4595217" y="4197747"/>
            <a:ext cx="3091510" cy="562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016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CLAUDE.md en deux zones : la vôtre, jamais écrasée, et le protocole, maintenu par le template. project-config.json décrit la stack</a:t>
            </a:r>
            <a:endParaRPr lang="en-US" sz="1016" dirty="0"/>
          </a:p>
        </p:txBody>
      </p:sp>
      <p:sp>
        <p:nvSpPr>
          <p:cNvPr id="24" name="Shape 17"/>
          <p:cNvSpPr/>
          <p:nvPr/>
        </p:nvSpPr>
        <p:spPr>
          <a:xfrm>
            <a:off x="7961809" y="3560465"/>
            <a:ext cx="3414216" cy="1355626"/>
          </a:xfrm>
          <a:prstGeom prst="roundRect">
            <a:avLst>
              <a:gd name="adj" fmla="val 5387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pic>
        <p:nvPicPr>
          <p:cNvPr id="25" name="Image 5" descr="Chart">    </p:cNvPr>
          <p:cNvPicPr>
            <a:picLocks noChangeAspect="1"/>
          </p:cNvPicPr>
          <p:nvPr/>
        </p:nvPicPr>
        <p:blipFill>
          <a:blip r:embed="rId6"/>
          <a:srcRect l="-26" r="-26" t="0" b="0"/>
          <a:stretch/>
        </p:blipFill>
        <p:spPr>
          <a:xfrm>
            <a:off x="8168184" y="3741440"/>
            <a:ext cx="254000" cy="19040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168184" y="4008041"/>
            <a:ext cx="3091510" cy="196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73"/>
              </a:lnSpc>
              <a:buNone/>
            </a:pPr>
            <a:r>
              <a:rPr lang="en-US" sz="1144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Mods et mémoire</a:t>
            </a:r>
            <a:endParaRPr lang="en-US" sz="1144" dirty="0"/>
          </a:p>
        </p:txBody>
      </p:sp>
      <p:sp>
        <p:nvSpPr>
          <p:cNvPr id="27" name="Text 19"/>
          <p:cNvSpPr/>
          <p:nvPr/>
        </p:nvSpPr>
        <p:spPr>
          <a:xfrm>
            <a:off x="8168184" y="4255591"/>
            <a:ext cx="3091510" cy="504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971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Panneau milestone dans le terminal, mémoire projet relue à chaque session, audit de cohérence après l’init</a:t>
            </a:r>
            <a:endParaRPr lang="en-US" sz="971" dirty="0"/>
          </a:p>
        </p:txBody>
      </p:sp>
      <p:sp>
        <p:nvSpPr>
          <p:cNvPr id="28" name="Shape 20"/>
          <p:cNvSpPr/>
          <p:nvPr/>
        </p:nvSpPr>
        <p:spPr>
          <a:xfrm>
            <a:off x="812800" y="5173266"/>
            <a:ext cx="10566400" cy="668734"/>
          </a:xfrm>
          <a:prstGeom prst="roundRect">
            <a:avLst>
              <a:gd name="adj" fmla="val 15193"/>
            </a:avLst>
          </a:prstGeom>
          <a:solidFill>
            <a:srgbClr val="16213A"/>
          </a:solidFill>
          <a:ln/>
        </p:spPr>
      </p:sp>
      <p:pic>
        <p:nvPicPr>
          <p:cNvPr id="29" name="Image 6" descr="Cloud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41400" y="5367933"/>
            <a:ext cx="279400" cy="2794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473200" y="5276552"/>
            <a:ext cx="996772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Fetché depuis GitHub par </a:t>
            </a:r>
            <a:r>
              <a:rPr lang="en-US" sz="13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/init-project</a:t>
            </a:r>
            <a:r>
              <a:rPr lang="en-US" sz="1300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gitignoré, mis à jour par la même commande. Vos adaptations vivent dans des fichiers compagnons, trackés et jamais écrasés.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812800" y="6238280"/>
            <a:ext cx="380357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1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github.com/CCoupel/claude_project_template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111454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1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0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DÉMARRER UN PROJET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1379200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/init-project s’adapte à ce qu’il trouve dans le dépôt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2800" y="1831280"/>
            <a:ext cx="3403600" cy="2298402"/>
          </a:xfrm>
          <a:prstGeom prst="roundRect">
            <a:avLst>
              <a:gd name="adj" fmla="val 4420"/>
            </a:avLst>
          </a:prstGeom>
          <a:solidFill>
            <a:srgbClr val="16213A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059880"/>
            <a:ext cx="30347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0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DÉPÔT VIDE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1400" y="2374801"/>
            <a:ext cx="303479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Nouveau projet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41400" y="2720181"/>
            <a:ext cx="303479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Vous donnez une description globale. Le </a:t>
            </a:r>
            <a:r>
              <a:rPr lang="en-US" sz="1200" b="1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workshop de cadrage</a:t>
            </a:r>
            <a:r>
              <a:rPr lang="en-US" sz="1200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pose le reste en 6 phases, par choix guidés.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1400" y="3461742"/>
            <a:ext cx="30347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Variante rapide : questionnaire stack seul, sans cadrage produit.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97375" y="1834455"/>
            <a:ext cx="3397250" cy="2292052"/>
          </a:xfrm>
          <a:prstGeom prst="roundRect">
            <a:avLst>
              <a:gd name="adj" fmla="val 4294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9150" y="2066230"/>
            <a:ext cx="30217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C8C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 EXISTANT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29150" y="2381151"/>
            <a:ext cx="3021711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Projet à reprendre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29150" y="2726531"/>
            <a:ext cx="3021711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Détection de la stack, du build, des tests, de la CI. Vous confirmez l’analyse ou corrigez via le questionnaire.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29150" y="3468092"/>
            <a:ext cx="302171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 de milestone créé : le projet a déjà une histoire.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78775" y="1834455"/>
            <a:ext cx="3397250" cy="2292052"/>
          </a:xfrm>
          <a:prstGeom prst="roundRect">
            <a:avLst>
              <a:gd name="adj" fmla="val 4294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0550" y="2066230"/>
            <a:ext cx="30217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C8C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DÉJÀ INITIALISÉ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10550" y="2381151"/>
            <a:ext cx="3021711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Mise à jour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10550" y="2726531"/>
            <a:ext cx="3021711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Réinstallation à l’identique après un clone, ou synchronisation avec la nouvelle version du template.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10550" y="3468092"/>
            <a:ext cx="302171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Vos adaptations projet ne sont jamais écrasées.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4383683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 qui est généré dans le dépôt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5975" y="4717058"/>
            <a:ext cx="2025650" cy="1032272"/>
          </a:xfrm>
          <a:prstGeom prst="roundRect">
            <a:avLst>
              <a:gd name="adj" fmla="val 7074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  <p:txBody>
          <a:bodyPr wrap="square" lIns="108787" tIns="83387" rIns="55828" bIns="57987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CLAUDE.md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contexte et règles du projet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49575" y="4717058"/>
            <a:ext cx="2025650" cy="1032272"/>
          </a:xfrm>
          <a:prstGeom prst="roundRect">
            <a:avLst>
              <a:gd name="adj" fmla="val 7074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  <p:txBody>
          <a:bodyPr wrap="square" lIns="108787" tIns="83387" rIns="55828" bIns="57987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project-config.json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stack, commandes, environnements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83175" y="4717058"/>
            <a:ext cx="2025650" cy="1032272"/>
          </a:xfrm>
          <a:prstGeom prst="roundRect">
            <a:avLst>
              <a:gd name="adj" fmla="val 7074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  <p:txBody>
          <a:bodyPr wrap="square" lIns="108787" tIns="83387" rIns="55828" bIns="57987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Agents dev-*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 stack : Go, Node, Python, React, Vue, ESP32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16775" y="4717058"/>
            <a:ext cx="2025650" cy="1032272"/>
          </a:xfrm>
          <a:prstGeom prst="roundRect">
            <a:avLst>
              <a:gd name="adj" fmla="val 7074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  <p:txBody>
          <a:bodyPr wrap="square" lIns="108787" tIns="83387" rIns="55828" bIns="57987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Commandes et agents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/feature, /deploy, teamleader, planner…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50375" y="4717058"/>
            <a:ext cx="2025650" cy="1032272"/>
          </a:xfrm>
          <a:prstGeom prst="roundRect">
            <a:avLst>
              <a:gd name="adj" fmla="val 7074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  <p:txBody>
          <a:bodyPr wrap="square" lIns="108787" tIns="83387" rIns="55828" bIns="57987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Labels GitHub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mémoire projet, audit de cohérence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80"/>
            <a:ext cx="24519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1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Code · template projet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1454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1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18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88" b="1" spc="150" kern="0" dirty="0">
                <a:solidFill>
                  <a:srgbClr val="E0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DÉMARRER UN PROJET</a:t>
            </a:r>
            <a:endParaRPr lang="en-US" sz="1088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81683"/>
            <a:ext cx="10883392" cy="883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8"/>
              </a:lnSpc>
              <a:buNone/>
            </a:pPr>
            <a:r>
              <a:rPr lang="en-US" sz="3071" b="1" i="0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D’un texte descriptif ou du formulaire à un premier milestone prêt</a:t>
            </a:r>
            <a:endParaRPr lang="en-US" sz="3071" dirty="0"/>
          </a:p>
        </p:txBody>
      </p:sp>
      <p:sp>
        <p:nvSpPr>
          <p:cNvPr id="4" name="Shape 2"/>
          <p:cNvSpPr/>
          <p:nvPr/>
        </p:nvSpPr>
        <p:spPr>
          <a:xfrm>
            <a:off x="815975" y="2197001"/>
            <a:ext cx="3431084" cy="890687"/>
          </a:xfrm>
          <a:prstGeom prst="roundRect">
            <a:avLst>
              <a:gd name="adj" fmla="val 8199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2352576"/>
            <a:ext cx="3161208" cy="205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186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Problème</a:t>
            </a:r>
            <a:endParaRPr lang="en-US" sz="1186" dirty="0"/>
          </a:p>
        </p:txBody>
      </p:sp>
      <p:sp>
        <p:nvSpPr>
          <p:cNvPr id="6" name="Text 4"/>
          <p:cNvSpPr/>
          <p:nvPr/>
        </p:nvSpPr>
        <p:spPr>
          <a:xfrm>
            <a:off x="996950" y="2583954"/>
            <a:ext cx="3161208" cy="373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7"/>
              </a:lnSpc>
              <a:buNone/>
            </a:pPr>
            <a:r>
              <a:rPr lang="en-US" sz="1028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Nom, problème central, pourquoi il n’est pas résolu, urgence</a:t>
            </a:r>
            <a:endParaRPr lang="en-US" sz="1028" dirty="0"/>
          </a:p>
        </p:txBody>
      </p:sp>
      <p:sp>
        <p:nvSpPr>
          <p:cNvPr id="7" name="Shape 5"/>
          <p:cNvSpPr/>
          <p:nvPr/>
        </p:nvSpPr>
        <p:spPr>
          <a:xfrm>
            <a:off x="4380409" y="2197001"/>
            <a:ext cx="3431084" cy="890687"/>
          </a:xfrm>
          <a:prstGeom prst="roundRect">
            <a:avLst>
              <a:gd name="adj" fmla="val 8199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1384" y="2352576"/>
            <a:ext cx="3161208" cy="205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186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Solution</a:t>
            </a:r>
            <a:endParaRPr lang="en-US" sz="1186" dirty="0"/>
          </a:p>
        </p:txBody>
      </p:sp>
      <p:sp>
        <p:nvSpPr>
          <p:cNvPr id="9" name="Text 7"/>
          <p:cNvSpPr/>
          <p:nvPr/>
        </p:nvSpPr>
        <p:spPr>
          <a:xfrm>
            <a:off x="4561384" y="2583954"/>
            <a:ext cx="3161208" cy="373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7"/>
              </a:lnSpc>
              <a:buNone/>
            </a:pPr>
            <a:r>
              <a:rPr lang="en-US" sz="1028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Trois cas d’usage de la v1, hors périmètre, différenciateurs</a:t>
            </a:r>
            <a:endParaRPr lang="en-US" sz="1028" dirty="0"/>
          </a:p>
        </p:txBody>
      </p:sp>
      <p:sp>
        <p:nvSpPr>
          <p:cNvPr id="10" name="Shape 8"/>
          <p:cNvSpPr/>
          <p:nvPr/>
        </p:nvSpPr>
        <p:spPr>
          <a:xfrm>
            <a:off x="7944842" y="2197001"/>
            <a:ext cx="3431084" cy="890687"/>
          </a:xfrm>
          <a:prstGeom prst="roundRect">
            <a:avLst>
              <a:gd name="adj" fmla="val 8199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5817" y="2352576"/>
            <a:ext cx="3161208" cy="205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186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Parties prenantes</a:t>
            </a:r>
            <a:endParaRPr lang="en-US" sz="1186" dirty="0"/>
          </a:p>
        </p:txBody>
      </p:sp>
      <p:sp>
        <p:nvSpPr>
          <p:cNvPr id="12" name="Text 10"/>
          <p:cNvSpPr/>
          <p:nvPr/>
        </p:nvSpPr>
        <p:spPr>
          <a:xfrm>
            <a:off x="8125817" y="2583954"/>
            <a:ext cx="3246934" cy="373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7"/>
              </a:lnSpc>
              <a:buNone/>
            </a:pPr>
            <a:r>
              <a:rPr lang="en-US" sz="1043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Utilisateurs finaux, décideurs, externes, distribution</a:t>
            </a:r>
            <a:endParaRPr lang="en-US" sz="1043" dirty="0"/>
          </a:p>
        </p:txBody>
      </p:sp>
      <p:sp>
        <p:nvSpPr>
          <p:cNvPr id="13" name="Shape 11"/>
          <p:cNvSpPr/>
          <p:nvPr/>
        </p:nvSpPr>
        <p:spPr>
          <a:xfrm>
            <a:off x="815975" y="3221038"/>
            <a:ext cx="3431084" cy="890687"/>
          </a:xfrm>
          <a:prstGeom prst="roundRect">
            <a:avLst>
              <a:gd name="adj" fmla="val 8199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6950" y="3376613"/>
            <a:ext cx="3161208" cy="205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186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Contraintes et risques</a:t>
            </a:r>
            <a:endParaRPr lang="en-US" sz="1186" dirty="0"/>
          </a:p>
        </p:txBody>
      </p:sp>
      <p:sp>
        <p:nvSpPr>
          <p:cNvPr id="15" name="Text 13"/>
          <p:cNvSpPr/>
          <p:nvPr/>
        </p:nvSpPr>
        <p:spPr>
          <a:xfrm>
            <a:off x="996950" y="3607991"/>
            <a:ext cx="3246934" cy="373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7"/>
              </a:lnSpc>
              <a:buNone/>
            </a:pPr>
            <a:r>
              <a:rPr lang="en-US" sz="1028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Délais, budget, techniques, réglementaires (RGPD…)</a:t>
            </a:r>
            <a:endParaRPr lang="en-US" sz="1028" dirty="0"/>
          </a:p>
        </p:txBody>
      </p:sp>
      <p:sp>
        <p:nvSpPr>
          <p:cNvPr id="16" name="Shape 14"/>
          <p:cNvSpPr/>
          <p:nvPr/>
        </p:nvSpPr>
        <p:spPr>
          <a:xfrm>
            <a:off x="4380409" y="3221038"/>
            <a:ext cx="3431084" cy="890687"/>
          </a:xfrm>
          <a:prstGeom prst="roundRect">
            <a:avLst>
              <a:gd name="adj" fmla="val 8199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61384" y="3376613"/>
            <a:ext cx="3161208" cy="205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186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· Stack et architecture</a:t>
            </a:r>
            <a:endParaRPr lang="en-US" sz="1186" dirty="0"/>
          </a:p>
        </p:txBody>
      </p:sp>
      <p:sp>
        <p:nvSpPr>
          <p:cNvPr id="18" name="Text 16"/>
          <p:cNvSpPr/>
          <p:nvPr/>
        </p:nvSpPr>
        <p:spPr>
          <a:xfrm>
            <a:off x="4561384" y="3607991"/>
            <a:ext cx="3161208" cy="373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7"/>
              </a:lnSpc>
              <a:buNone/>
            </a:pPr>
            <a:r>
              <a:rPr lang="en-US" sz="1028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Backend, frontend, base, build, tests, CI/CD, environnements</a:t>
            </a:r>
            <a:endParaRPr lang="en-US" sz="1028" dirty="0"/>
          </a:p>
        </p:txBody>
      </p:sp>
      <p:sp>
        <p:nvSpPr>
          <p:cNvPr id="19" name="Shape 17"/>
          <p:cNvSpPr/>
          <p:nvPr/>
        </p:nvSpPr>
        <p:spPr>
          <a:xfrm>
            <a:off x="7944842" y="3221038"/>
            <a:ext cx="3431084" cy="890687"/>
          </a:xfrm>
          <a:prstGeom prst="roundRect">
            <a:avLst>
              <a:gd name="adj" fmla="val 8199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25817" y="3376613"/>
            <a:ext cx="3161208" cy="205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186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· Conventions d’équipe</a:t>
            </a:r>
            <a:endParaRPr lang="en-US" sz="1186" dirty="0"/>
          </a:p>
        </p:txBody>
      </p:sp>
      <p:sp>
        <p:nvSpPr>
          <p:cNvPr id="21" name="Text 19"/>
          <p:cNvSpPr/>
          <p:nvPr/>
        </p:nvSpPr>
        <p:spPr>
          <a:xfrm>
            <a:off x="8125817" y="3607991"/>
            <a:ext cx="3161208" cy="373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7"/>
              </a:lnSpc>
              <a:buNone/>
            </a:pPr>
            <a:r>
              <a:rPr lang="en-US" sz="1028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Branches, format de commit, politique de revue, standards</a:t>
            </a:r>
            <a:endParaRPr lang="en-US" sz="1028" dirty="0"/>
          </a:p>
        </p:txBody>
      </p:sp>
      <p:sp>
        <p:nvSpPr>
          <p:cNvPr id="22" name="Shape 20"/>
          <p:cNvSpPr/>
          <p:nvPr/>
        </p:nvSpPr>
        <p:spPr>
          <a:xfrm>
            <a:off x="812800" y="4368899"/>
            <a:ext cx="5175250" cy="1473101"/>
          </a:xfrm>
          <a:prstGeom prst="roundRect">
            <a:avLst>
              <a:gd name="adj" fmla="val 6897"/>
            </a:avLst>
          </a:prstGeom>
          <a:solidFill>
            <a:srgbClr val="16213A"/>
          </a:solidFill>
          <a:ln/>
        </p:spPr>
      </p:sp>
      <p:sp>
        <p:nvSpPr>
          <p:cNvPr id="23" name="Text 21"/>
          <p:cNvSpPr/>
          <p:nvPr/>
        </p:nvSpPr>
        <p:spPr>
          <a:xfrm>
            <a:off x="1041400" y="4572099"/>
            <a:ext cx="4859592" cy="211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spc="100" kern="0" dirty="0">
                <a:solidFill>
                  <a:srgbClr val="E0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DEUX FAÇONS D’ENTRER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41400" y="4834037"/>
            <a:ext cx="4859592" cy="830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93"/>
              </a:lnSpc>
              <a:buNone/>
            </a:pPr>
            <a:r>
              <a:rPr lang="en-US" sz="1138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texte descriptif</a:t>
            </a:r>
            <a:r>
              <a:rPr lang="en-US" sz="1138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collé au départ, il remplit les phases 1 et 2 ; le reste est proposé sous forme d’options avec une valeur recommandée. </a:t>
            </a:r>
            <a:r>
              <a:rPr lang="en-US" sz="1138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formulaire</a:t>
            </a:r>
            <a:r>
              <a:rPr lang="en-US" sz="1138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les six phases posées question par question, vous choisissez, vous ne rédigez pas.</a:t>
            </a:r>
            <a:endParaRPr lang="en-US" sz="1138" dirty="0"/>
          </a:p>
        </p:txBody>
      </p:sp>
      <p:sp>
        <p:nvSpPr>
          <p:cNvPr id="25" name="Shape 23"/>
          <p:cNvSpPr/>
          <p:nvPr/>
        </p:nvSpPr>
        <p:spPr>
          <a:xfrm>
            <a:off x="6194425" y="4372074"/>
            <a:ext cx="5181600" cy="1466751"/>
          </a:xfrm>
          <a:prstGeom prst="roundRect">
            <a:avLst>
              <a:gd name="adj" fmla="val 6710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26200" y="4578449"/>
            <a:ext cx="48595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C8C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À LA FIN, SUR GITHUB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26200" y="4867970"/>
            <a:ext cx="4859592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Milestone </a:t>
            </a:r>
            <a:r>
              <a:rPr lang="en-US" sz="1300" b="1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v0.1.0</a:t>
            </a:r>
            <a:r>
              <a:rPr lang="en-US" sz="13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avec ses issues de base : squelette du projet, pipeline CI/CD, publication et déploiement, README, puis une issue par cas d’usage de la v1.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80"/>
            <a:ext cx="24519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1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Code · template projet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1454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1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0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UN NIVEAU AU-DESSUS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Plusieurs projets en parallèle : ce qui coince, et ce que fait le launcher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2331641"/>
            <a:ext cx="49184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C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SANS OUTIL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633861"/>
            <a:ext cx="4775200" cy="690761"/>
          </a:xfrm>
          <a:prstGeom prst="roundRect">
            <a:avLst>
              <a:gd name="adj" fmla="val 9193"/>
            </a:avLst>
          </a:prstGeom>
          <a:solidFill>
            <a:srgbClr val="1E2B4A"/>
          </a:solidFill>
          <a:ln/>
        </p:spPr>
        <p:txBody>
          <a:bodyPr wrap="square" lIns="133801" tIns="95701" rIns="0" bIns="7030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terminal par projet à ouvrir, retrouver, et perdre à la fermeture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3413522"/>
            <a:ext cx="4775200" cy="690761"/>
          </a:xfrm>
          <a:prstGeom prst="roundRect">
            <a:avLst>
              <a:gd name="adj" fmla="val 9193"/>
            </a:avLst>
          </a:prstGeom>
          <a:solidFill>
            <a:srgbClr val="1E2B4A"/>
          </a:solidFill>
          <a:ln/>
        </p:spPr>
        <p:txBody>
          <a:bodyPr wrap="square" lIns="133801" tIns="95701" rIns="0" bIns="7030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 GitHub et variables d’environnement à configurer dans chaque dépôt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4193183"/>
            <a:ext cx="4775200" cy="459680"/>
          </a:xfrm>
          <a:prstGeom prst="roundRect">
            <a:avLst>
              <a:gd name="adj" fmla="val 13814"/>
            </a:avLst>
          </a:prstGeom>
          <a:solidFill>
            <a:srgbClr val="1E2B4A"/>
          </a:solidFill>
          <a:ln/>
        </p:spPr>
        <p:txBody>
          <a:bodyPr wrap="square" lIns="133801" tIns="95701" rIns="0" bIns="7030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init-project.md par projet, qui vieillit à son rythme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4741763"/>
            <a:ext cx="4775200" cy="690761"/>
          </a:xfrm>
          <a:prstGeom prst="roundRect">
            <a:avLst>
              <a:gd name="adj" fmla="val 9193"/>
            </a:avLst>
          </a:prstGeom>
          <a:solidFill>
            <a:srgbClr val="1E2B4A"/>
          </a:solidFill>
          <a:ln/>
        </p:spPr>
        <p:txBody>
          <a:bodyPr wrap="square" lIns="133801" tIns="95701" rIns="0" bIns="7030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 agents d’une équipe invisibles : impossible de savoir qui fait quoi</a:t>
            </a:r>
            <a:endParaRPr lang="en-US" sz="1300" dirty="0"/>
          </a:p>
        </p:txBody>
      </p:sp>
      <p:pic>
        <p:nvPicPr>
          <p:cNvPr id="9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42000" y="3870623"/>
            <a:ext cx="508000" cy="254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604000" y="2331641"/>
            <a:ext cx="49184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0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AVEC LE LAUNCHER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04000" y="2633861"/>
            <a:ext cx="4775200" cy="690761"/>
          </a:xfrm>
          <a:prstGeom prst="roundRect">
            <a:avLst>
              <a:gd name="adj" fmla="val 9193"/>
            </a:avLst>
          </a:prstGeom>
          <a:solidFill>
            <a:srgbClr val="F6F5F0"/>
          </a:solidFill>
          <a:ln/>
        </p:spPr>
        <p:txBody>
          <a:bodyPr wrap="square" lIns="133801" tIns="95701" rIns="0" bIns="7030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hub tmux : menu des projets, une session persistante par projet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604000" y="3413522"/>
            <a:ext cx="4775200" cy="690761"/>
          </a:xfrm>
          <a:prstGeom prst="roundRect">
            <a:avLst>
              <a:gd name="adj" fmla="val 9193"/>
            </a:avLst>
          </a:prstGeom>
          <a:solidFill>
            <a:srgbClr val="F6F5F0"/>
          </a:solidFill>
          <a:ln/>
        </p:spPr>
        <p:txBody>
          <a:bodyPr wrap="square" lIns="133801" tIns="95701" rIns="0" bIns="7030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 et variables injectés au lancement depuis une seule config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04000" y="4193183"/>
            <a:ext cx="4775200" cy="690761"/>
          </a:xfrm>
          <a:prstGeom prst="roundRect">
            <a:avLst>
              <a:gd name="adj" fmla="val 9193"/>
            </a:avLst>
          </a:prstGeom>
          <a:solidFill>
            <a:srgbClr val="F6F5F0"/>
          </a:solidFill>
          <a:ln/>
        </p:spPr>
        <p:txBody>
          <a:bodyPr wrap="square" lIns="133801" tIns="95701" rIns="0" bIns="7030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init-project.md rafraîchi et launcher mis à jour à chaque ouverture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604000" y="4972844"/>
            <a:ext cx="4775200" cy="690761"/>
          </a:xfrm>
          <a:prstGeom prst="roundRect">
            <a:avLst>
              <a:gd name="adj" fmla="val 9193"/>
            </a:avLst>
          </a:prstGeom>
          <a:solidFill>
            <a:srgbClr val="F6F5F0"/>
          </a:solidFill>
          <a:ln/>
        </p:spPr>
        <p:txBody>
          <a:bodyPr wrap="square" lIns="133801" tIns="95701" rIns="0" bIns="7030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Panes colorés par agent : l’équipe de chaque projet visible d’un coup d’œil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80"/>
            <a:ext cx="24519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Code · template projet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1454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5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spc="150" kern="0" dirty="0">
                <a:solidFill>
                  <a:srgbClr val="E0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INSTALLER LE LAUNCHER</a:t>
            </a:r>
            <a:endParaRPr lang="en-US" sz="1196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98947"/>
            <a:ext cx="10883392" cy="960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2"/>
              </a:lnSpc>
              <a:buNone/>
            </a:pPr>
            <a:r>
              <a:rPr lang="en-US" sz="3347" b="1" i="0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Trois commandes pour un hub tmux de tous vos projets</a:t>
            </a:r>
            <a:endParaRPr lang="en-US" sz="3347" dirty="0"/>
          </a:p>
        </p:txBody>
      </p:sp>
      <p:sp>
        <p:nvSpPr>
          <p:cNvPr id="4" name="Text 2"/>
          <p:cNvSpPr/>
          <p:nvPr/>
        </p:nvSpPr>
        <p:spPr>
          <a:xfrm>
            <a:off x="812800" y="2287786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E0702A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0800" y="2287786"/>
            <a:ext cx="66974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Télécharger le script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20800" y="2592586"/>
            <a:ext cx="6502400" cy="882650"/>
          </a:xfrm>
          <a:prstGeom prst="roundRect">
            <a:avLst>
              <a:gd name="adj" fmla="val 8633"/>
            </a:avLst>
          </a:prstGeom>
          <a:solidFill>
            <a:srgbClr val="16213A"/>
          </a:solidFill>
          <a:ln/>
        </p:spPr>
        <p:txBody>
          <a:bodyPr wrap="square" lIns="155482" tIns="104682" rIns="0" bIns="79282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curl -fsSL https://raw.githubusercontent.com/CCoupel/Claude-Launcher/main/claude-launcher.sh -o ~/claude-launcher.sh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chmod +x ~/claude-launcher.sh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12800" y="3608288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E0702A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0800" y="3608288"/>
            <a:ext cx="66974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Configurer une fois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0800" y="3913088"/>
            <a:ext cx="6502400" cy="463550"/>
          </a:xfrm>
          <a:prstGeom prst="roundRect">
            <a:avLst>
              <a:gd name="adj" fmla="val 16438"/>
            </a:avLst>
          </a:prstGeom>
          <a:solidFill>
            <a:srgbClr val="16213A"/>
          </a:solidFill>
          <a:ln/>
        </p:spPr>
        <p:txBody>
          <a:bodyPr wrap="square" lIns="155482" tIns="104682" rIns="0" bIns="79282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~/claude-launcher.sh --configure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20800" y="4452838"/>
            <a:ext cx="66974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Crée </a:t>
            </a:r>
            <a:r>
              <a:rPr lang="en-US" sz="1200" b="1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~/.config/claude-launcher.conf</a:t>
            </a: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dossier des projets, token GitHub, options.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800" y="4801394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E0702A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0800" y="4801394"/>
            <a:ext cx="66974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Lancer le hub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0800" y="5106194"/>
            <a:ext cx="6502400" cy="463550"/>
          </a:xfrm>
          <a:prstGeom prst="roundRect">
            <a:avLst>
              <a:gd name="adj" fmla="val 16438"/>
            </a:avLst>
          </a:prstGeom>
          <a:solidFill>
            <a:srgbClr val="16213A"/>
          </a:solidFill>
          <a:ln/>
        </p:spPr>
        <p:txBody>
          <a:bodyPr wrap="square" lIns="155482" tIns="104682" rIns="0" bIns="79282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~/claude-launcher.sh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20800" y="5645944"/>
            <a:ext cx="66974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menu liste vos projets ; chacun s’ouvre dans sa session tmux avec Claude Code prêt.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80375" y="2290961"/>
            <a:ext cx="3295650" cy="3547864"/>
          </a:xfrm>
          <a:prstGeom prst="roundRect">
            <a:avLst>
              <a:gd name="adj" fmla="val 2987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12150" y="2522736"/>
            <a:ext cx="2917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Prérequis sur le poste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97494" y="2878336"/>
            <a:ext cx="2824099" cy="1610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Linux, macOS ou WSL</a:t>
            </a:r>
            <a:endParaRPr lang="en-US" sz="1300" dirty="0"/>
          </a:p>
          <a:p>
            <a:pPr algn="l" marL="168656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tmux</a:t>
            </a:r>
            <a:endParaRPr lang="en-US" sz="1300" dirty="0"/>
          </a:p>
          <a:p>
            <a:pPr algn="l" marL="168656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Code installé et connecté</a:t>
            </a:r>
            <a:endParaRPr lang="en-US" sz="1300" dirty="0"/>
          </a:p>
          <a:p>
            <a:pPr algn="l" marL="168656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gh (CLI GitHub) authentifié</a:t>
            </a:r>
            <a:endParaRPr lang="en-US" sz="1300" dirty="0"/>
          </a:p>
          <a:p>
            <a:pPr algn="l" marL="168656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token GitHub avec accès aux dépôts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324850" y="4590058"/>
            <a:ext cx="0" cy="792361"/>
          </a:xfrm>
          <a:prstGeom prst="line">
            <a:avLst/>
          </a:prstGeom>
          <a:noFill/>
          <a:ln w="25400">
            <a:solidFill>
              <a:srgbClr val="2C8C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64550" y="4666258"/>
            <a:ext cx="2629281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launcher est optionnel : un seul fichier, init-project.md, suffit pour utiliser le template dans un projet.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31457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1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github.com/CCoupel/Claude-Launcher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1454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1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4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b="1" spc="150" kern="0" dirty="0">
                <a:solidFill>
                  <a:srgbClr val="E0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CONFIGURER LE LAUNCHER</a:t>
            </a:r>
            <a:endParaRPr lang="en-US" sz="1121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88231"/>
            <a:ext cx="11379200" cy="912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23"/>
              </a:lnSpc>
              <a:buNone/>
            </a:pPr>
            <a:r>
              <a:rPr lang="en-US" sz="3294" b="1" i="0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fichier de configuration, et le reste est automatique</a:t>
            </a:r>
            <a:endParaRPr lang="en-US" sz="3294" dirty="0"/>
          </a:p>
        </p:txBody>
      </p:sp>
      <p:sp>
        <p:nvSpPr>
          <p:cNvPr id="4" name="Text 2"/>
          <p:cNvSpPr/>
          <p:nvPr/>
        </p:nvSpPr>
        <p:spPr>
          <a:xfrm>
            <a:off x="812800" y="2229644"/>
            <a:ext cx="643585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~/.config/claude-launcher.conf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2800" y="2559844"/>
            <a:ext cx="6248400" cy="2845792"/>
          </a:xfrm>
          <a:prstGeom prst="rect">
            <a:avLst/>
          </a:prstGeom>
          <a:solidFill>
            <a:srgbClr val="FDFCFA"/>
          </a:solidFill>
          <a:ln/>
        </p:spPr>
      </p:sp>
      <p:sp>
        <p:nvSpPr>
          <p:cNvPr id="6" name="Shape 4"/>
          <p:cNvSpPr/>
          <p:nvPr/>
        </p:nvSpPr>
        <p:spPr>
          <a:xfrm>
            <a:off x="7058025" y="2559844"/>
            <a:ext cx="0" cy="2845792"/>
          </a:xfrm>
          <a:prstGeom prst="line">
            <a:avLst/>
          </a:prstGeom>
          <a:noFill/>
          <a:ln w="6350">
            <a:solidFill>
              <a:srgbClr val="E1DF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2800" y="5402461"/>
            <a:ext cx="6248400" cy="0"/>
          </a:xfrm>
          <a:prstGeom prst="line">
            <a:avLst/>
          </a:prstGeom>
          <a:noFill/>
          <a:ln w="6350">
            <a:solidFill>
              <a:srgbClr val="E1DFD7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572544"/>
          <a:ext cx="6229350" cy="2826742"/>
        </p:xfrm>
        <a:graphic>
          <a:graphicData uri="http://schemas.openxmlformats.org/drawingml/2006/table">
            <a:tbl>
              <a:tblPr/>
              <a:tblGrid>
                <a:gridCol w="2616327"/>
                <a:gridCol w="3613023"/>
              </a:tblGrid>
              <a:tr h="4038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Variable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Rôle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161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  <a:tr h="4038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GITHUB_DIR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Dossier qui contient vos projets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GITHUB_TOKEN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Token GitHub pour gh et le plugin MCP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</a:tr>
              <a:tr h="4038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CLAUDE_EXPERIMENTAL_TEAMS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 : active les équipes d’agents (requis)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CLAUDE_OPTIONS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Options passées à claude au lancement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</a:tr>
              <a:tr h="4038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EXTRA_ENVS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Variables supplémentaires : clés d’API, URLs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CLAUDE_DISABLE_MOUSE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 : désactive la souris dans tmux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0" y="2229644"/>
            <a:ext cx="4185920" cy="228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À chaque ouverture d’un projet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318375" y="2563118"/>
            <a:ext cx="4057650" cy="639663"/>
          </a:xfrm>
          <a:prstGeom prst="roundRect">
            <a:avLst>
              <a:gd name="adj" fmla="val 11416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pic>
        <p:nvPicPr>
          <p:cNvPr id="11" name="Image 0" descr="Activ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73950" y="2693293"/>
            <a:ext cx="254000" cy="254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29550" y="2693293"/>
            <a:ext cx="349262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Vérifie le dernier tag GitHub et se met à jour en silence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318375" y="3336131"/>
            <a:ext cx="4057650" cy="639763"/>
          </a:xfrm>
          <a:prstGeom prst="roundRect">
            <a:avLst>
              <a:gd name="adj" fmla="val 11414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pic>
        <p:nvPicPr>
          <p:cNvPr id="14" name="Image 1" descr="Cloud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73950" y="3466306"/>
            <a:ext cx="254000" cy="254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829550" y="3466306"/>
            <a:ext cx="349262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Rafraîchit init-project.md depuis le dépôt du template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318375" y="4109244"/>
            <a:ext cx="4057650" cy="639763"/>
          </a:xfrm>
          <a:prstGeom prst="roundRect">
            <a:avLst>
              <a:gd name="adj" fmla="val 11414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pic>
        <p:nvPicPr>
          <p:cNvPr id="17" name="Image 2" descr="Key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73950" y="4239419"/>
            <a:ext cx="254000" cy="2540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829550" y="4239419"/>
            <a:ext cx="349262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Injecte le token GitHub et vos variables d’environnement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7318375" y="4882356"/>
            <a:ext cx="4057650" cy="639763"/>
          </a:xfrm>
          <a:prstGeom prst="roundRect">
            <a:avLst>
              <a:gd name="adj" fmla="val 11414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pic>
        <p:nvPicPr>
          <p:cNvPr id="20" name="Image 3" descr="Users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73950" y="5012531"/>
            <a:ext cx="254000" cy="2540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829550" y="5012531"/>
            <a:ext cx="349262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Ouvre une session tmux par projet, panes colorés par agent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7315200" y="5652294"/>
            <a:ext cx="4185920" cy="215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88" dirty="0">
                <a:solidFill>
                  <a:srgbClr val="4A526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~/claude-launcher.sh --update</a:t>
            </a:r>
            <a:endParaRPr lang="en-US" sz="1088" dirty="0"/>
          </a:p>
        </p:txBody>
      </p:sp>
      <p:sp>
        <p:nvSpPr>
          <p:cNvPr id="23" name="Text 16"/>
          <p:cNvSpPr/>
          <p:nvPr/>
        </p:nvSpPr>
        <p:spPr>
          <a:xfrm>
            <a:off x="812800" y="6238280"/>
            <a:ext cx="31457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1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github.com/CCoupel/Claude-Launcher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111454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1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b="1" spc="150" kern="0" dirty="0">
                <a:solidFill>
                  <a:srgbClr val="E0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POUR FINIR · UNE JOURNÉE TYPE</a:t>
            </a:r>
            <a:endParaRPr lang="en-US" sz="1159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93986"/>
            <a:ext cx="10883392" cy="938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11"/>
              </a:lnSpc>
              <a:buNone/>
            </a:pPr>
            <a:r>
              <a:rPr lang="en-US" sz="3283" b="1" i="0" dirty="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commandes, du démarrage de session à la production</a:t>
            </a:r>
            <a:endParaRPr lang="en-US" sz="3283" dirty="0"/>
          </a:p>
        </p:txBody>
      </p:sp>
      <p:sp>
        <p:nvSpPr>
          <p:cNvPr id="4" name="Shape 2"/>
          <p:cNvSpPr/>
          <p:nvPr/>
        </p:nvSpPr>
        <p:spPr>
          <a:xfrm>
            <a:off x="815975" y="2289373"/>
            <a:ext cx="3414117" cy="1214636"/>
          </a:xfrm>
          <a:prstGeom prst="roundRect">
            <a:avLst>
              <a:gd name="adj" fmla="val 6012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2470348"/>
            <a:ext cx="309140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C8C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/start-session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2350" y="2777629"/>
            <a:ext cx="309140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Lit la mémoire projet, la version, le milestone actif. Lance l’équipe d’agents.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8842" y="2289373"/>
            <a:ext cx="3414216" cy="1214636"/>
          </a:xfrm>
          <a:prstGeom prst="roundRect">
            <a:avLst>
              <a:gd name="adj" fmla="val 6012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5217" y="2470348"/>
            <a:ext cx="309151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C8C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/milestone new v1.2.0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95217" y="2777629"/>
            <a:ext cx="30915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Crée le milestone GitHub et y rattache les issues choisies dans le backlog.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61809" y="2289373"/>
            <a:ext cx="3414216" cy="1214636"/>
          </a:xfrm>
          <a:prstGeom prst="roundRect">
            <a:avLst>
              <a:gd name="adj" fmla="val 6012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68184" y="2470348"/>
            <a:ext cx="3091510" cy="231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1"/>
              </a:lnSpc>
              <a:buNone/>
            </a:pPr>
            <a:r>
              <a:rPr lang="en-US" sz="1158" b="1" dirty="0">
                <a:solidFill>
                  <a:srgbClr val="2C8C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/feature #42</a:t>
            </a:r>
            <a:endParaRPr lang="en-US" sz="1158" dirty="0"/>
          </a:p>
        </p:txBody>
      </p:sp>
      <p:sp>
        <p:nvSpPr>
          <p:cNvPr id="12" name="Text 10"/>
          <p:cNvSpPr/>
          <p:nvPr/>
        </p:nvSpPr>
        <p:spPr>
          <a:xfrm>
            <a:off x="8168184" y="2752527"/>
            <a:ext cx="3091510" cy="595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33"/>
              </a:lnSpc>
              <a:buNone/>
            </a:pPr>
            <a:r>
              <a:rPr lang="en-US" sz="1166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Contrats, tests, code, revue, QA, déploiement en QUALIF, jusqu’à votre validation.</a:t>
            </a:r>
            <a:endParaRPr lang="en-US" sz="1166" dirty="0"/>
          </a:p>
        </p:txBody>
      </p:sp>
      <p:sp>
        <p:nvSpPr>
          <p:cNvPr id="13" name="Shape 11"/>
          <p:cNvSpPr/>
          <p:nvPr/>
        </p:nvSpPr>
        <p:spPr>
          <a:xfrm>
            <a:off x="815975" y="3662759"/>
            <a:ext cx="3414117" cy="1095871"/>
          </a:xfrm>
          <a:prstGeom prst="roundRect">
            <a:avLst>
              <a:gd name="adj" fmla="val 6664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2350" y="3843734"/>
            <a:ext cx="309140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C8C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/deploy prod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2350" y="4151015"/>
            <a:ext cx="309140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Merge, tag, CI surveillée, release, milestone fermé, branches nettoyées.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8842" y="3662759"/>
            <a:ext cx="3414216" cy="1095871"/>
          </a:xfrm>
          <a:prstGeom prst="roundRect">
            <a:avLst>
              <a:gd name="adj" fmla="val 6664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5217" y="3843734"/>
            <a:ext cx="309151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C8C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/marketing v1.2.0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95217" y="4151015"/>
            <a:ext cx="30915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Release notes et site de présentation générés depuis le milestone clos.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61809" y="3662759"/>
            <a:ext cx="3414216" cy="1095871"/>
          </a:xfrm>
          <a:prstGeom prst="roundRect">
            <a:avLst>
              <a:gd name="adj" fmla="val 6664"/>
            </a:avLst>
          </a:prstGeom>
          <a:solidFill>
            <a:srgbClr val="FDFCFA"/>
          </a:solidFill>
          <a:ln w="6350">
            <a:solidFill>
              <a:srgbClr val="E1DF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68184" y="3843734"/>
            <a:ext cx="309151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C8C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/end-session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68184" y="4151015"/>
            <a:ext cx="30915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Mémoire projet à jour, agents fermés, rapport de session.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2800" y="5041205"/>
            <a:ext cx="10566400" cy="800795"/>
          </a:xfrm>
          <a:prstGeom prst="roundRect">
            <a:avLst>
              <a:gd name="adj" fmla="val 12687"/>
            </a:avLst>
          </a:prstGeom>
          <a:solidFill>
            <a:srgbClr val="16213A"/>
          </a:solidFill>
          <a:ln/>
        </p:spPr>
      </p:sp>
      <p:pic>
        <p:nvPicPr>
          <p:cNvPr id="23" name="Image 0" descr="Char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1400" y="5289153"/>
            <a:ext cx="304800" cy="3048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498600" y="5210572"/>
            <a:ext cx="994156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Panneau milestone en direct.</a:t>
            </a:r>
            <a:r>
              <a:rPr lang="en-US" sz="1300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À droite du terminal du teamleader : les issues du milestone par lot et par phase, barre d’avancement, consommation du compte. Rafraîchi à chaque événement.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12800" y="6238280"/>
            <a:ext cx="24519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1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Code · template projet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11454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1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0702A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0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ET MAINTENANT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20"/>
            <a:ext cx="1088339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 où commencer ?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812800" y="3013869"/>
            <a:ext cx="3386634" cy="1546622"/>
          </a:xfrm>
          <a:prstGeom prst="roundRect">
            <a:avLst>
              <a:gd name="adj" fmla="val 6569"/>
            </a:avLst>
          </a:prstGeom>
          <a:solidFill>
            <a:srgbClr val="1E2B4A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3267869"/>
            <a:ext cx="296499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projet pilote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6800" y="3613249"/>
            <a:ext cx="2964993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Petit, avec un dépôt GitHub et une CI. Un milestone, deux ou trois issues, jusqu’à la mise en production.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2634" y="3013869"/>
            <a:ext cx="3386634" cy="1546622"/>
          </a:xfrm>
          <a:prstGeom prst="roundRect">
            <a:avLst>
              <a:gd name="adj" fmla="val 6569"/>
            </a:avLst>
          </a:prstGeom>
          <a:solidFill>
            <a:srgbClr val="1E2B4A"/>
          </a:solidFill>
          <a:ln/>
        </p:spPr>
      </p:sp>
      <p:sp>
        <p:nvSpPr>
          <p:cNvPr id="9" name="Text 7"/>
          <p:cNvSpPr/>
          <p:nvPr/>
        </p:nvSpPr>
        <p:spPr>
          <a:xfrm>
            <a:off x="4656634" y="3267869"/>
            <a:ext cx="296499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poste prêt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56634" y="3613249"/>
            <a:ext cx="2964993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tmux, gh, Claude Code connecté, token GitHub. Le launcher fait le reste en quelques minutes.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92467" y="3013869"/>
            <a:ext cx="3386634" cy="1546622"/>
          </a:xfrm>
          <a:prstGeom prst="roundRect">
            <a:avLst>
              <a:gd name="adj" fmla="val 6569"/>
            </a:avLst>
          </a:prstGeom>
          <a:solidFill>
            <a:srgbClr val="1E2B4A"/>
          </a:solidFill>
          <a:ln/>
        </p:spPr>
      </p:sp>
      <p:sp>
        <p:nvSpPr>
          <p:cNvPr id="12" name="Text 10"/>
          <p:cNvSpPr/>
          <p:nvPr/>
        </p:nvSpPr>
        <p:spPr>
          <a:xfrm>
            <a:off x="8246467" y="3267869"/>
            <a:ext cx="296499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Une description écrite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46467" y="3613249"/>
            <a:ext cx="2964993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6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problème, trois cas d’usage v1, le hors périmètre, les contraintes. Le workshop fera le reste.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5831880"/>
            <a:ext cx="41453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6CFD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github.com/CCoupel/claude_project_template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58159" y="5831880"/>
            <a:ext cx="37308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6CFD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github.com/CCoupel/Claude-Launcher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ude Code et le template projet">
  <a:themeElements>
    <a:clrScheme name="Claude Code et le template projet">
      <a:dk1>
        <a:srgbClr val="16213A"/>
      </a:dk1>
      <a:lt1>
        <a:srgbClr val="F6F5F0"/>
      </a:lt1>
      <a:dk2>
        <a:srgbClr val="4E5668"/>
      </a:dk2>
      <a:lt2>
        <a:srgbClr val="E0E0DE"/>
      </a:lt2>
      <a:accent1>
        <a:srgbClr val="E0702A"/>
      </a:accent1>
      <a:accent2>
        <a:srgbClr val="2C8C99"/>
      </a:accent2>
      <a:accent3>
        <a:srgbClr val="F2B98A"/>
      </a:accent3>
      <a:accent4>
        <a:srgbClr val="0075CA"/>
      </a:accent4>
      <a:accent5>
        <a:srgbClr val="E4E669"/>
      </a:accent5>
      <a:accent6>
        <a:srgbClr val="D876E3"/>
      </a:accent6>
      <a:hlink>
        <a:srgbClr val="0563C1"/>
      </a:hlink>
      <a:folHlink>
        <a:srgbClr val="954F72"/>
      </a:folHlink>
    </a:clrScheme>
    <a:fontScheme name="Claude Code et le template projet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et le template projet</dc:title>
  <dc:subject/>
  <dc:creator/>
  <cp:lastModifiedBy/>
  <cp:revision>1</cp:revision>
  <dcterms:created xsi:type="dcterms:W3CDTF">2026-10-15T08:19:01Z</dcterms:created>
  <dcterms:modified xsi:type="dcterms:W3CDTF">2026-10-15T08:19:01Z</dcterms:modified>
</cp:coreProperties>
</file>